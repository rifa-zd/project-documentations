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32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6858000" cy="9906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706" autoAdjust="0"/>
    <p:restoredTop sz="94727" autoAdjust="0"/>
  </p:normalViewPr>
  <p:slideViewPr>
    <p:cSldViewPr>
      <p:cViewPr varScale="1">
        <p:scale>
          <a:sx n="50" d="100"/>
          <a:sy n="50" d="100"/>
        </p:scale>
        <p:origin x="-2352" y="-90"/>
      </p:cViewPr>
      <p:guideLst>
        <p:guide orient="horz" pos="312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856" y="-78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41A332-50B2-4324-B187-92AD106EAF09}" type="datetimeFigureOut">
              <a:rPr lang="en-US" smtClean="0"/>
              <a:pPr/>
              <a:t>5/8/2022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C49FD0-4209-44EC-8981-5725E11E796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C49FD0-4209-44EC-8981-5725E11E7962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C49FD0-4209-44EC-8981-5725E11E7962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9685867"/>
            <a:ext cx="6858000" cy="22013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6743700" y="4403"/>
            <a:ext cx="114300" cy="9906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14300" cy="9906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6858000" cy="36322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09728" y="9232393"/>
            <a:ext cx="6624828" cy="447147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028700" y="4072467"/>
            <a:ext cx="4800600" cy="2531533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D55A5-05CD-4266-BB3D-1376E1BAD06D}" type="datetimeFigureOut">
              <a:rPr lang="en-US" smtClean="0"/>
              <a:pPr/>
              <a:t>5/8/2022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16586" y="3495717"/>
            <a:ext cx="6624828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14300" y="220133"/>
            <a:ext cx="6624828" cy="9456928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3200400" y="3055451"/>
            <a:ext cx="457200" cy="880533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3271266" y="3191933"/>
            <a:ext cx="315468" cy="60756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3257550" y="3176984"/>
            <a:ext cx="342900" cy="637469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81C0427-441E-4DA1-BEA1-7DD480A9DE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14350" y="550333"/>
            <a:ext cx="5829300" cy="2531533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D55A5-05CD-4266-BB3D-1376E1BAD06D}" type="datetimeFigureOut">
              <a:rPr lang="en-US" smtClean="0"/>
              <a:pPr/>
              <a:t>5/8/2022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271266" y="1482538"/>
            <a:ext cx="342900" cy="637469"/>
          </a:xfrm>
        </p:spPr>
        <p:txBody>
          <a:bodyPr/>
          <a:lstStyle/>
          <a:p>
            <a:fld id="{C81C0427-441E-4DA1-BEA1-7DD480A9DE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226314" y="2205736"/>
            <a:ext cx="6377940" cy="6604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14300" cy="9906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9685867"/>
            <a:ext cx="6858000" cy="22013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6858000" cy="22013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6743700" y="27517"/>
            <a:ext cx="114300" cy="9906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4300" y="3302000"/>
            <a:ext cx="6624828" cy="440267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16586" y="205620"/>
            <a:ext cx="6624828" cy="3090672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6319" y="3962401"/>
            <a:ext cx="4860131" cy="2416881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09728" y="9232393"/>
            <a:ext cx="6624828" cy="447147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14300" y="220133"/>
            <a:ext cx="6624828" cy="9456928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D55A5-05CD-4266-BB3D-1376E1BAD06D}" type="datetimeFigureOut">
              <a:rPr lang="en-US" smtClean="0"/>
              <a:pPr/>
              <a:t>5/8/2022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14300" y="3522133"/>
            <a:ext cx="6624828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3200400" y="3055451"/>
            <a:ext cx="457200" cy="880533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3271266" y="3191933"/>
            <a:ext cx="315468" cy="60756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257550" y="3176984"/>
            <a:ext cx="342900" cy="637469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81C0427-441E-4DA1-BEA1-7DD480A9DE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770467"/>
            <a:ext cx="5829300" cy="2201333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314" y="330200"/>
            <a:ext cx="6400800" cy="1096264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343400" y="9258808"/>
            <a:ext cx="2283714" cy="528320"/>
          </a:xfrm>
        </p:spPr>
        <p:txBody>
          <a:bodyPr/>
          <a:lstStyle/>
          <a:p>
            <a:fld id="{944D55A5-05CD-4266-BB3D-1376E1BAD06D}" type="datetimeFigureOut">
              <a:rPr lang="en-US" smtClean="0"/>
              <a:pPr/>
              <a:t>5/8/2022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C0427-441E-4DA1-BEA1-7DD480A9DE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3422310" y="2275943"/>
            <a:ext cx="6691" cy="696158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226314" y="1981200"/>
            <a:ext cx="3028950" cy="6762496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3600450" y="1981200"/>
            <a:ext cx="3028950" cy="6762496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3429000" y="3178175"/>
            <a:ext cx="0" cy="6049264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6858000" cy="2091267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9685867"/>
            <a:ext cx="6858000" cy="22013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14300" cy="9906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6743700" y="0"/>
            <a:ext cx="114300" cy="9906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14300" y="1981200"/>
            <a:ext cx="6624828" cy="13208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09442" y="9232392"/>
            <a:ext cx="6624828" cy="44907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" y="2201333"/>
            <a:ext cx="3030141" cy="105874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3593498" y="2201333"/>
            <a:ext cx="3031331" cy="105664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D55A5-05CD-4266-BB3D-1376E1BAD06D}" type="datetimeFigureOut">
              <a:rPr lang="en-US" smtClean="0"/>
              <a:pPr/>
              <a:t>5/8/2022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28600" y="9258808"/>
            <a:ext cx="2686050" cy="52832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14300" y="1849120"/>
            <a:ext cx="6624828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14300" y="224536"/>
            <a:ext cx="6624828" cy="9456928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226314" y="3569776"/>
            <a:ext cx="3031236" cy="551547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3600450" y="3569775"/>
            <a:ext cx="3028950" cy="552094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3200400" y="1380941"/>
            <a:ext cx="457200" cy="880533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3271266" y="1517424"/>
            <a:ext cx="315468" cy="60756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257550" y="1505713"/>
            <a:ext cx="342900" cy="637469"/>
          </a:xfrm>
        </p:spPr>
        <p:txBody>
          <a:bodyPr/>
          <a:lstStyle>
            <a:lvl1pPr algn="ctr">
              <a:defRPr/>
            </a:lvl1pPr>
          </a:lstStyle>
          <a:p>
            <a:fld id="{C81C0427-441E-4DA1-BEA1-7DD480A9DE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D55A5-05CD-4266-BB3D-1376E1BAD06D}" type="datetimeFigureOut">
              <a:rPr lang="en-US" smtClean="0"/>
              <a:pPr/>
              <a:t>5/8/2022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257550" y="1496474"/>
            <a:ext cx="342900" cy="637469"/>
          </a:xfrm>
        </p:spPr>
        <p:txBody>
          <a:bodyPr/>
          <a:lstStyle/>
          <a:p>
            <a:fld id="{C81C0427-441E-4DA1-BEA1-7DD480A9DE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9685867"/>
            <a:ext cx="6858000" cy="22013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6858000" cy="224536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6743700" y="0"/>
            <a:ext cx="114300" cy="9906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14300" cy="9906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9728" y="9232393"/>
            <a:ext cx="6624828" cy="447147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14300" y="228939"/>
            <a:ext cx="6624828" cy="9456928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D55A5-05CD-4266-BB3D-1376E1BAD06D}" type="datetimeFigureOut">
              <a:rPr lang="en-US" smtClean="0"/>
              <a:pPr/>
              <a:t>5/8/2022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200400" y="9135533"/>
            <a:ext cx="457200" cy="637468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81C0427-441E-4DA1-BEA1-7DD480A9DE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14300" y="220133"/>
            <a:ext cx="6624828" cy="440267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9685867"/>
            <a:ext cx="6858000" cy="22013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6743700" y="0"/>
            <a:ext cx="114300" cy="9906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6858000" cy="171704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14300" cy="9906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14300" y="880534"/>
            <a:ext cx="2057400" cy="8475133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1320800"/>
            <a:ext cx="1771650" cy="1430867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285750" y="2861734"/>
            <a:ext cx="1771650" cy="5987169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14300" y="220133"/>
            <a:ext cx="6624828" cy="9456928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4300" y="770467"/>
            <a:ext cx="6624828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2343150" y="990600"/>
            <a:ext cx="4229100" cy="7814733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971550" y="330200"/>
            <a:ext cx="457200" cy="880533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042416" y="466683"/>
            <a:ext cx="315468" cy="60756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8700" y="451734"/>
            <a:ext cx="342900" cy="637469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81C0427-441E-4DA1-BEA1-7DD480A9DE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12014" y="9227668"/>
            <a:ext cx="6624828" cy="447147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D55A5-05CD-4266-BB3D-1376E1BAD06D}" type="datetimeFigureOut">
              <a:rPr lang="en-US" smtClean="0"/>
              <a:pPr/>
              <a:t>5/8/2022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6314" y="9260114"/>
            <a:ext cx="2537460" cy="52832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14300" y="770467"/>
            <a:ext cx="6624828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9685867"/>
            <a:ext cx="6858000" cy="22013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6743700" y="0"/>
            <a:ext cx="114300" cy="9906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6858000" cy="22013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14300" cy="9906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14300" y="220133"/>
            <a:ext cx="6624828" cy="435864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14300" y="880534"/>
            <a:ext cx="2057400" cy="8475133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14300" y="224536"/>
            <a:ext cx="6624828" cy="9456928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971550" y="330200"/>
            <a:ext cx="457200" cy="880533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042416" y="466683"/>
            <a:ext cx="315468" cy="60756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8700" y="451734"/>
            <a:ext cx="342900" cy="637469"/>
          </a:xfrm>
        </p:spPr>
        <p:txBody>
          <a:bodyPr/>
          <a:lstStyle/>
          <a:p>
            <a:fld id="{C81C0427-441E-4DA1-BEA1-7DD480A9DE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0281" y="7264400"/>
            <a:ext cx="4400550" cy="1761067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50281" y="880534"/>
            <a:ext cx="4400550" cy="616373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750" y="1430867"/>
            <a:ext cx="1828800" cy="75946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12014" y="9227668"/>
            <a:ext cx="6624828" cy="447147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341114" y="9251644"/>
            <a:ext cx="2283714" cy="528320"/>
          </a:xfrm>
        </p:spPr>
        <p:txBody>
          <a:bodyPr/>
          <a:lstStyle/>
          <a:p>
            <a:fld id="{944D55A5-05CD-4266-BB3D-1376E1BAD06D}" type="datetimeFigureOut">
              <a:rPr lang="en-US" smtClean="0"/>
              <a:pPr/>
              <a:t>5/8/2022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6314" y="9260114"/>
            <a:ext cx="2688336" cy="528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D55A5-05CD-4266-BB3D-1376E1BAD06D}" type="datetimeFigureOut">
              <a:rPr lang="en-US" smtClean="0"/>
              <a:pPr/>
              <a:t>5/8/2022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C0427-441E-4DA1-BEA1-7DD480A9DE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9685867"/>
            <a:ext cx="6858000" cy="22013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5257800" y="0"/>
            <a:ext cx="1600200" cy="9906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6858000" cy="224536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14300" cy="9906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09728" y="9232393"/>
            <a:ext cx="6624828" cy="447147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14300" y="224536"/>
            <a:ext cx="6624828" cy="9456928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847852" y="4735068"/>
            <a:ext cx="902106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5129784" y="4226102"/>
            <a:ext cx="457200" cy="880533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5200650" y="4362585"/>
            <a:ext cx="315468" cy="60756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86934" y="4347636"/>
            <a:ext cx="342900" cy="637469"/>
          </a:xfrm>
        </p:spPr>
        <p:txBody>
          <a:bodyPr/>
          <a:lstStyle/>
          <a:p>
            <a:fld id="{C81C0427-441E-4DA1-BEA1-7DD480A9DE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440267"/>
            <a:ext cx="4914900" cy="840864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D55A5-05CD-4266-BB3D-1376E1BAD06D}" type="datetimeFigureOut">
              <a:rPr lang="en-US" smtClean="0"/>
              <a:pPr/>
              <a:t>5/8/2022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43550" y="440269"/>
            <a:ext cx="1085850" cy="845220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9685867"/>
            <a:ext cx="6858000" cy="22013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1"/>
            <a:ext cx="6858000" cy="2012647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14300" cy="9906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6743700" y="0"/>
            <a:ext cx="114300" cy="9906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12014" y="9227668"/>
            <a:ext cx="6624828" cy="447147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343400" y="9251644"/>
            <a:ext cx="2283714" cy="52832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944D55A5-05CD-4266-BB3D-1376E1BAD06D}" type="datetimeFigureOut">
              <a:rPr lang="en-US" smtClean="0"/>
              <a:pPr/>
              <a:t>5/8/2022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28600" y="9260114"/>
            <a:ext cx="2686050" cy="52832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14300" y="224536"/>
            <a:ext cx="6624828" cy="9456928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4300" y="1844184"/>
            <a:ext cx="6624828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3200400" y="1380941"/>
            <a:ext cx="457200" cy="880533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3271266" y="1517424"/>
            <a:ext cx="315468" cy="60756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3257550" y="1502475"/>
            <a:ext cx="342900" cy="637469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81C0427-441E-4DA1-BEA1-7DD480A9DE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226314" y="330200"/>
            <a:ext cx="6400800" cy="1096264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26314" y="2201333"/>
            <a:ext cx="6400800" cy="6643624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33" r:id="rId1"/>
    <p:sldLayoutId id="2147484334" r:id="rId2"/>
    <p:sldLayoutId id="2147484335" r:id="rId3"/>
    <p:sldLayoutId id="2147484336" r:id="rId4"/>
    <p:sldLayoutId id="2147484337" r:id="rId5"/>
    <p:sldLayoutId id="2147484338" r:id="rId6"/>
    <p:sldLayoutId id="2147484339" r:id="rId7"/>
    <p:sldLayoutId id="2147484340" r:id="rId8"/>
    <p:sldLayoutId id="2147484341" r:id="rId9"/>
    <p:sldLayoutId id="2147484342" r:id="rId10"/>
    <p:sldLayoutId id="2147484343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5.bin"/><Relationship Id="rId4" Type="http://schemas.openxmlformats.org/officeDocument/2006/relationships/oleObject" Target="../embeddings/oleObject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1" y="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4876800"/>
            <a:ext cx="5715000" cy="1066800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sz="6000" b="1" i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Bell MT" pitchFamily="18" charset="0"/>
              </a:rPr>
              <a:t>Tangent Line</a:t>
            </a:r>
            <a:endParaRPr lang="en-US" sz="6000" b="1" i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Bell MT" pitchFamily="18" charset="0"/>
            </a:endParaRPr>
          </a:p>
        </p:txBody>
      </p:sp>
      <p:pic>
        <p:nvPicPr>
          <p:cNvPr id="7" name="Picture 6" descr="67059617_331768247775552_7499742343176650752_n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4800" y="304800"/>
            <a:ext cx="838200" cy="838200"/>
          </a:xfrm>
          <a:prstGeom prst="rect">
            <a:avLst/>
          </a:prstGeom>
        </p:spPr>
      </p:pic>
      <p:sp>
        <p:nvSpPr>
          <p:cNvPr id="7169" name="Rectangle 1"/>
          <p:cNvSpPr>
            <a:spLocks noChangeArrowheads="1"/>
          </p:cNvSpPr>
          <p:nvPr/>
        </p:nvSpPr>
        <p:spPr bwMode="auto">
          <a:xfrm>
            <a:off x="304800" y="1066800"/>
            <a:ext cx="2971800" cy="1354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Bookman Old Style" pitchFamily="18" charset="0"/>
                <a:ea typeface="Calibri" pitchFamily="34" charset="0"/>
                <a:cs typeface="Vrinda" pitchFamily="34" charset="0"/>
              </a:rPr>
              <a:t>Name  </a:t>
            </a:r>
            <a:r>
              <a:rPr kumimoji="0" lang="en-US" sz="1600" b="1" i="0" u="none" strike="noStrike" cap="none" normalizeH="0" dirty="0" smtClean="0">
                <a:ln>
                  <a:noFill/>
                </a:ln>
                <a:solidFill>
                  <a:srgbClr val="0070C0"/>
                </a:solidFill>
                <a:effectLst/>
                <a:latin typeface="Bookman Old Style" pitchFamily="18" charset="0"/>
                <a:ea typeface="Calibri" pitchFamily="34" charset="0"/>
                <a:cs typeface="Vrinda" pitchFamily="34" charset="0"/>
              </a:rPr>
              <a:t>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okman Old Style" pitchFamily="18" charset="0"/>
                <a:ea typeface="Calibri" pitchFamily="34" charset="0"/>
                <a:cs typeface="Vrinda" pitchFamily="34" charset="0"/>
              </a:rPr>
              <a:t>:  Rifa Azad</a:t>
            </a:r>
            <a:endParaRPr kumimoji="0" 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Bookman Old Style" pitchFamily="18" charset="0"/>
                <a:ea typeface="Calibri" pitchFamily="34" charset="0"/>
                <a:cs typeface="Vrinda" pitchFamily="34" charset="0"/>
              </a:rPr>
              <a:t>Id        : 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okman Old Style" pitchFamily="18" charset="0"/>
                <a:ea typeface="Calibri" pitchFamily="34" charset="0"/>
                <a:cs typeface="Vrinda" pitchFamily="34" charset="0"/>
              </a:rPr>
              <a:t>2022-1-60-265</a:t>
            </a:r>
            <a:endParaRPr kumimoji="0" 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Bookman Old Style" pitchFamily="18" charset="0"/>
                <a:ea typeface="Calibri" pitchFamily="34" charset="0"/>
                <a:cs typeface="Vrinda" pitchFamily="34" charset="0"/>
              </a:rPr>
              <a:t>Course:  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okman Old Style" pitchFamily="18" charset="0"/>
                <a:ea typeface="Calibri" pitchFamily="34" charset="0"/>
                <a:cs typeface="Vrinda" pitchFamily="34" charset="0"/>
              </a:rPr>
              <a:t>MAT 101(14)</a:t>
            </a:r>
            <a:endParaRPr kumimoji="0" 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0F243E"/>
                </a:solidFill>
                <a:effectLst/>
                <a:latin typeface="Bookman Old Style" pitchFamily="18" charset="0"/>
                <a:ea typeface="Calibri" pitchFamily="34" charset="0"/>
                <a:cs typeface="Vrinda" pitchFamily="34" charset="0"/>
              </a:rPr>
              <a:t>    CSE department</a:t>
            </a:r>
            <a:endParaRPr kumimoji="0" 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advTm="100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2438400" y="2971800"/>
            <a:ext cx="2028825" cy="1912937"/>
            <a:chOff x="2286000" y="3429000"/>
            <a:chExt cx="2028825" cy="1912937"/>
          </a:xfrm>
        </p:grpSpPr>
        <p:sp>
          <p:nvSpPr>
            <p:cNvPr id="14338" name="Oval 2"/>
            <p:cNvSpPr>
              <a:spLocks noChangeArrowheads="1"/>
            </p:cNvSpPr>
            <p:nvPr/>
          </p:nvSpPr>
          <p:spPr bwMode="auto">
            <a:xfrm>
              <a:off x="2286000" y="3810000"/>
              <a:ext cx="1579563" cy="153193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37" name="AutoShape 1"/>
            <p:cNvSpPr>
              <a:spLocks noChangeShapeType="1"/>
            </p:cNvSpPr>
            <p:nvPr/>
          </p:nvSpPr>
          <p:spPr bwMode="auto">
            <a:xfrm>
              <a:off x="3276600" y="3429000"/>
              <a:ext cx="1038225" cy="162718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304800" y="457200"/>
            <a:ext cx="6096000" cy="240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304704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rgbClr val="365F91"/>
                </a:solidFill>
                <a:effectLst/>
                <a:latin typeface="Cambria" pitchFamily="18" charset="0"/>
                <a:ea typeface="Times New Roman" pitchFamily="18" charset="0"/>
                <a:cs typeface="Vrinda" pitchFamily="34" charset="0"/>
              </a:rPr>
              <a:t>What is Tangent line?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rgbClr val="365F91"/>
              </a:solidFill>
              <a:effectLst/>
              <a:latin typeface="Cambria" pitchFamily="18" charset="0"/>
              <a:ea typeface="Times New Roman" pitchFamily="18" charset="0"/>
              <a:cs typeface="Vrinda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 smtClean="0">
                <a:latin typeface="Georgia" pitchFamily="18" charset="0"/>
                <a:ea typeface="Calibri" pitchFamily="34" charset="0"/>
                <a:cs typeface="Vrinda" pitchFamily="34" charset="0"/>
              </a:rPr>
              <a:t>Tangent line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itchFamily="18" charset="0"/>
                <a:ea typeface="Calibri" pitchFamily="34" charset="0"/>
                <a:cs typeface="Vrinda" pitchFamily="34" charset="0"/>
              </a:rPr>
              <a:t> was explained in plain geometry as a line that touches a circle at precisely one point. As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itchFamily="18" charset="0"/>
                <a:ea typeface="Calibri" pitchFamily="34" charset="0"/>
                <a:cs typeface="Vrinda" pitchFamily="34" charset="0"/>
              </a:rPr>
              <a:t> </a:t>
            </a:r>
            <a:r>
              <a:rPr lang="en-US" sz="2400" dirty="0" smtClean="0">
                <a:latin typeface="Georgia" pitchFamily="18" charset="0"/>
                <a:ea typeface="Calibri" pitchFamily="34" charset="0"/>
                <a:cs typeface="Vrinda" pitchFamily="34" charset="0"/>
              </a:rPr>
              <a:t>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itchFamily="18" charset="0"/>
                <a:ea typeface="Calibri" pitchFamily="34" charset="0"/>
                <a:cs typeface="Vrinda" pitchFamily="34" charset="0"/>
              </a:rPr>
              <a:t>hown below, 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0" y="457200"/>
            <a:ext cx="6858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304800" y="5257800"/>
            <a:ext cx="5334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068388" algn="l"/>
              </a:tabLst>
            </a:pPr>
            <a:r>
              <a:rPr lang="en-US" sz="2000" b="1" dirty="0" smtClean="0">
                <a:latin typeface="Georgia" pitchFamily="18" charset="0"/>
                <a:ea typeface="Calibri" pitchFamily="34" charset="0"/>
                <a:cs typeface="Vrinda" pitchFamily="34" charset="0"/>
              </a:rPr>
              <a:t>B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itchFamily="18" charset="0"/>
                <a:ea typeface="Calibri" pitchFamily="34" charset="0"/>
                <a:cs typeface="Vrinda" pitchFamily="34" charset="0"/>
              </a:rPr>
              <a:t>ut what about these figure below?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3886200" y="5943600"/>
            <a:ext cx="1600200" cy="1219200"/>
            <a:chOff x="3962400" y="6324600"/>
            <a:chExt cx="1600200" cy="1219200"/>
          </a:xfrm>
        </p:grpSpPr>
        <p:sp>
          <p:nvSpPr>
            <p:cNvPr id="14347" name="Freeform 11"/>
            <p:cNvSpPr>
              <a:spLocks/>
            </p:cNvSpPr>
            <p:nvPr/>
          </p:nvSpPr>
          <p:spPr bwMode="auto">
            <a:xfrm>
              <a:off x="4419600" y="6324600"/>
              <a:ext cx="990600" cy="1219200"/>
            </a:xfrm>
            <a:custGeom>
              <a:avLst/>
              <a:gdLst/>
              <a:ahLst/>
              <a:cxnLst>
                <a:cxn ang="0">
                  <a:pos x="2693" y="0"/>
                </a:cxn>
                <a:cxn ang="0">
                  <a:pos x="56" y="1627"/>
                </a:cxn>
                <a:cxn ang="0">
                  <a:pos x="2356" y="2600"/>
                </a:cxn>
                <a:cxn ang="0">
                  <a:pos x="2394" y="2600"/>
                </a:cxn>
              </a:cxnLst>
              <a:rect l="0" t="0" r="r" b="b"/>
              <a:pathLst>
                <a:path w="2746" h="2762">
                  <a:moveTo>
                    <a:pt x="2693" y="0"/>
                  </a:moveTo>
                  <a:cubicBezTo>
                    <a:pt x="2257" y="271"/>
                    <a:pt x="112" y="1194"/>
                    <a:pt x="56" y="1627"/>
                  </a:cubicBezTo>
                  <a:cubicBezTo>
                    <a:pt x="0" y="2060"/>
                    <a:pt x="1966" y="2438"/>
                    <a:pt x="2356" y="2600"/>
                  </a:cubicBezTo>
                  <a:cubicBezTo>
                    <a:pt x="2746" y="2762"/>
                    <a:pt x="2386" y="2600"/>
                    <a:pt x="2394" y="260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19" name="AutoShape 9"/>
            <p:cNvCxnSpPr>
              <a:cxnSpLocks noChangeShapeType="1"/>
            </p:cNvCxnSpPr>
            <p:nvPr/>
          </p:nvCxnSpPr>
          <p:spPr bwMode="auto">
            <a:xfrm>
              <a:off x="3962400" y="7010400"/>
              <a:ext cx="1600200" cy="1588"/>
            </a:xfrm>
            <a:prstGeom prst="straightConnector1">
              <a:avLst/>
            </a:prstGeom>
            <a:noFill/>
            <a:ln w="9525">
              <a:solidFill>
                <a:srgbClr val="00B050"/>
              </a:solidFill>
              <a:round/>
              <a:headEnd/>
              <a:tailEnd/>
            </a:ln>
          </p:spPr>
        </p:cxnSp>
      </p:grpSp>
      <p:grpSp>
        <p:nvGrpSpPr>
          <p:cNvPr id="21" name="Group 20"/>
          <p:cNvGrpSpPr/>
          <p:nvPr/>
        </p:nvGrpSpPr>
        <p:grpSpPr>
          <a:xfrm>
            <a:off x="685800" y="6248400"/>
            <a:ext cx="2514600" cy="1066800"/>
            <a:chOff x="304800" y="6553201"/>
            <a:chExt cx="2514600" cy="1066800"/>
          </a:xfrm>
        </p:grpSpPr>
        <p:sp>
          <p:nvSpPr>
            <p:cNvPr id="14344" name="Freeform 8"/>
            <p:cNvSpPr>
              <a:spLocks/>
            </p:cNvSpPr>
            <p:nvPr/>
          </p:nvSpPr>
          <p:spPr bwMode="auto">
            <a:xfrm>
              <a:off x="533400" y="6553201"/>
              <a:ext cx="2286000" cy="1066800"/>
            </a:xfrm>
            <a:custGeom>
              <a:avLst/>
              <a:gdLst/>
              <a:ahLst/>
              <a:cxnLst>
                <a:cxn ang="0">
                  <a:pos x="0" y="2098"/>
                </a:cxn>
                <a:cxn ang="0">
                  <a:pos x="992" y="97"/>
                </a:cxn>
                <a:cxn ang="0">
                  <a:pos x="2488" y="2678"/>
                </a:cxn>
                <a:cxn ang="0">
                  <a:pos x="3292" y="920"/>
                </a:cxn>
                <a:cxn ang="0">
                  <a:pos x="5742" y="3968"/>
                </a:cxn>
                <a:cxn ang="0">
                  <a:pos x="6770" y="2341"/>
                </a:cxn>
              </a:cxnLst>
              <a:rect l="0" t="0" r="r" b="b"/>
              <a:pathLst>
                <a:path w="6770" h="4205">
                  <a:moveTo>
                    <a:pt x="0" y="2098"/>
                  </a:moveTo>
                  <a:cubicBezTo>
                    <a:pt x="288" y="1049"/>
                    <a:pt x="577" y="0"/>
                    <a:pt x="992" y="97"/>
                  </a:cubicBezTo>
                  <a:cubicBezTo>
                    <a:pt x="1407" y="194"/>
                    <a:pt x="2105" y="2541"/>
                    <a:pt x="2488" y="2678"/>
                  </a:cubicBezTo>
                  <a:cubicBezTo>
                    <a:pt x="2871" y="2815"/>
                    <a:pt x="2750" y="705"/>
                    <a:pt x="3292" y="920"/>
                  </a:cubicBezTo>
                  <a:cubicBezTo>
                    <a:pt x="3834" y="1135"/>
                    <a:pt x="5162" y="3731"/>
                    <a:pt x="5742" y="3968"/>
                  </a:cubicBezTo>
                  <a:cubicBezTo>
                    <a:pt x="6322" y="4205"/>
                    <a:pt x="6599" y="2612"/>
                    <a:pt x="6770" y="2341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14345" name="AutoShape 9"/>
            <p:cNvCxnSpPr>
              <a:cxnSpLocks noChangeShapeType="1"/>
            </p:cNvCxnSpPr>
            <p:nvPr/>
          </p:nvCxnSpPr>
          <p:spPr bwMode="auto">
            <a:xfrm>
              <a:off x="304800" y="6781800"/>
              <a:ext cx="2362200" cy="1588"/>
            </a:xfrm>
            <a:prstGeom prst="straightConnector1">
              <a:avLst/>
            </a:prstGeom>
            <a:noFill/>
            <a:ln w="9525">
              <a:solidFill>
                <a:srgbClr val="00B050"/>
              </a:solidFill>
              <a:round/>
              <a:headEnd/>
              <a:tailEnd/>
            </a:ln>
          </p:spPr>
        </p:cxnSp>
      </p:grpSp>
      <p:sp>
        <p:nvSpPr>
          <p:cNvPr id="14348" name="Rectangle 12"/>
          <p:cNvSpPr>
            <a:spLocks noChangeArrowheads="1"/>
          </p:cNvSpPr>
          <p:nvPr/>
        </p:nvSpPr>
        <p:spPr bwMode="auto">
          <a:xfrm>
            <a:off x="381000" y="7467600"/>
            <a:ext cx="6248400" cy="160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>
                <a:tab pos="1068388" algn="l"/>
              </a:tabLst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okman Old Style" pitchFamily="18" charset="0"/>
                <a:ea typeface="Calibri" pitchFamily="34" charset="0"/>
                <a:cs typeface="Vrinda" pitchFamily="34" charset="0"/>
              </a:rPr>
              <a:t>Those lines seems like tangent lines </a:t>
            </a:r>
            <a:r>
              <a:rPr kumimoji="0" lang="en-US" sz="20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okman Old Style" pitchFamily="18" charset="0"/>
                <a:ea typeface="Calibri" pitchFamily="34" charset="0"/>
                <a:cs typeface="Vrinda" pitchFamily="34" charset="0"/>
              </a:rPr>
              <a:t>but</a:t>
            </a:r>
            <a:r>
              <a:rPr kumimoji="0" lang="en-US" sz="2000" b="0" i="0" u="sng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Bookman Old Style" pitchFamily="18" charset="0"/>
                <a:ea typeface="Calibri" pitchFamily="34" charset="0"/>
                <a:cs typeface="Vrinda" pitchFamily="34" charset="0"/>
              </a:rPr>
              <a:t> </a:t>
            </a:r>
            <a:r>
              <a:rPr kumimoji="0" lang="en-US" sz="20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okman Old Style" pitchFamily="18" charset="0"/>
                <a:ea typeface="Calibri" pitchFamily="34" charset="0"/>
                <a:cs typeface="Vrinda" pitchFamily="34" charset="0"/>
              </a:rPr>
              <a:t>will not be regarded as a tangent lines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okman Old Style" pitchFamily="18" charset="0"/>
                <a:ea typeface="Calibri" pitchFamily="34" charset="0"/>
                <a:cs typeface="Vrinda" pitchFamily="34" charset="0"/>
              </a:rPr>
              <a:t>even though the lines has touched the curves at precisely at one point.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068388" algn="l"/>
              </a:tabLst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5121" name="AutoShape 1"/>
          <p:cNvCxnSpPr>
            <a:cxnSpLocks noChangeShapeType="1"/>
          </p:cNvCxnSpPr>
          <p:nvPr/>
        </p:nvCxnSpPr>
        <p:spPr bwMode="auto">
          <a:xfrm flipV="1">
            <a:off x="4191000" y="3429000"/>
            <a:ext cx="819150" cy="760412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rgbClr val="0070C0"/>
            </a:solidFill>
            <a:round/>
            <a:headEnd/>
            <a:tailEnd type="triangle" w="med" len="med"/>
          </a:ln>
        </p:spPr>
      </p:cxn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5029200" y="327660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Tangent line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905000" y="6400800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343400" y="6553200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/>
      <p:bldP spid="14340" grpId="0"/>
      <p:bldP spid="14342" grpId="0"/>
      <p:bldP spid="14348" grpId="0"/>
      <p:bldP spid="5122" grpId="0"/>
      <p:bldP spid="23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838200"/>
            <a:ext cx="655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ea typeface="Cambria" pitchFamily="18" charset="0"/>
              </a:rPr>
              <a:t>So what defines a tangent line?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  <a:ea typeface="Cambria" pitchFamily="18" charset="0"/>
            </a:endParaRPr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457200" y="1524000"/>
            <a:ext cx="6019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In geometry, the tangent line to a plane curve at a given point is the straight line that "just touches" the curve at that point.</a:t>
            </a:r>
            <a:endParaRPr kumimoji="0" lang="en-US" sz="24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609600" y="5029200"/>
            <a:ext cx="5883522" cy="3194050"/>
            <a:chOff x="609600" y="5029200"/>
            <a:chExt cx="5883522" cy="3194050"/>
          </a:xfrm>
        </p:grpSpPr>
        <p:grpSp>
          <p:nvGrpSpPr>
            <p:cNvPr id="29" name="Group 28"/>
            <p:cNvGrpSpPr/>
            <p:nvPr/>
          </p:nvGrpSpPr>
          <p:grpSpPr>
            <a:xfrm>
              <a:off x="609600" y="5029200"/>
              <a:ext cx="5883522" cy="3194050"/>
              <a:chOff x="533400" y="4800600"/>
              <a:chExt cx="5883522" cy="3194050"/>
            </a:xfrm>
          </p:grpSpPr>
          <p:grpSp>
            <p:nvGrpSpPr>
              <p:cNvPr id="35" name="Group 34"/>
              <p:cNvGrpSpPr/>
              <p:nvPr/>
            </p:nvGrpSpPr>
            <p:grpSpPr>
              <a:xfrm>
                <a:off x="533400" y="5181600"/>
                <a:ext cx="5486400" cy="2813050"/>
                <a:chOff x="533400" y="5486400"/>
                <a:chExt cx="5486400" cy="2813050"/>
              </a:xfrm>
            </p:grpSpPr>
            <p:grpSp>
              <p:nvGrpSpPr>
                <p:cNvPr id="24" name="Group 23"/>
                <p:cNvGrpSpPr/>
                <p:nvPr/>
              </p:nvGrpSpPr>
              <p:grpSpPr>
                <a:xfrm>
                  <a:off x="1371600" y="6096000"/>
                  <a:ext cx="3886200" cy="1389062"/>
                  <a:chOff x="1447800" y="4114800"/>
                  <a:chExt cx="3886200" cy="1389062"/>
                </a:xfrm>
              </p:grpSpPr>
              <p:sp>
                <p:nvSpPr>
                  <p:cNvPr id="16388" name="Freeform 4"/>
                  <p:cNvSpPr>
                    <a:spLocks/>
                  </p:cNvSpPr>
                  <p:nvPr/>
                </p:nvSpPr>
                <p:spPr bwMode="auto">
                  <a:xfrm>
                    <a:off x="1600200" y="4114800"/>
                    <a:ext cx="3348037" cy="1389062"/>
                  </a:xfrm>
                  <a:custGeom>
                    <a:avLst/>
                    <a:gdLst/>
                    <a:ahLst/>
                    <a:cxnLst>
                      <a:cxn ang="0">
                        <a:pos x="0" y="2188"/>
                      </a:cxn>
                      <a:cxn ang="0">
                        <a:pos x="866" y="632"/>
                      </a:cxn>
                      <a:cxn ang="0">
                        <a:pos x="3054" y="1324"/>
                      </a:cxn>
                      <a:cxn ang="0">
                        <a:pos x="4307" y="295"/>
                      </a:cxn>
                      <a:cxn ang="0">
                        <a:pos x="5274" y="0"/>
                      </a:cxn>
                    </a:cxnLst>
                    <a:rect l="0" t="0" r="r" b="b"/>
                    <a:pathLst>
                      <a:path w="5274" h="2188">
                        <a:moveTo>
                          <a:pt x="0" y="2188"/>
                        </a:moveTo>
                        <a:cubicBezTo>
                          <a:pt x="147" y="1929"/>
                          <a:pt x="357" y="776"/>
                          <a:pt x="866" y="632"/>
                        </a:cubicBezTo>
                        <a:cubicBezTo>
                          <a:pt x="1375" y="488"/>
                          <a:pt x="2481" y="1380"/>
                          <a:pt x="3054" y="1324"/>
                        </a:cubicBezTo>
                        <a:cubicBezTo>
                          <a:pt x="3627" y="1268"/>
                          <a:pt x="3937" y="516"/>
                          <a:pt x="4307" y="295"/>
                        </a:cubicBezTo>
                        <a:cubicBezTo>
                          <a:pt x="4677" y="74"/>
                          <a:pt x="5073" y="62"/>
                          <a:pt x="5274" y="0"/>
                        </a:cubicBezTo>
                      </a:path>
                    </a:pathLst>
                  </a:custGeom>
                  <a:ln w="25400">
                    <a:solidFill>
                      <a:srgbClr val="002060"/>
                    </a:solidFill>
                    <a:headEnd/>
                    <a:tailEnd/>
                  </a:ln>
                </p:spPr>
                <p:style>
                  <a:lnRef idx="1">
                    <a:schemeClr val="accent3"/>
                  </a:lnRef>
                  <a:fillRef idx="0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tx1"/>
                  </a:fontRef>
                </p:style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cxnSp>
                <p:nvCxnSpPr>
                  <p:cNvPr id="16391" name="AutoShape 7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447800" y="4495800"/>
                    <a:ext cx="3886200" cy="1588"/>
                  </a:xfrm>
                  <a:prstGeom prst="straightConnector1">
                    <a:avLst/>
                  </a:prstGeom>
                  <a:noFill/>
                  <a:ln w="25400">
                    <a:solidFill>
                      <a:srgbClr val="002060"/>
                    </a:solidFill>
                    <a:round/>
                    <a:headEnd/>
                    <a:tailEnd/>
                  </a:ln>
                </p:spPr>
              </p:cxnSp>
            </p:grpSp>
            <p:cxnSp>
              <p:nvCxnSpPr>
                <p:cNvPr id="16392" name="AutoShape 8"/>
                <p:cNvCxnSpPr>
                  <a:cxnSpLocks noChangeShapeType="1"/>
                </p:cNvCxnSpPr>
                <p:nvPr/>
              </p:nvCxnSpPr>
              <p:spPr bwMode="auto">
                <a:xfrm>
                  <a:off x="533400" y="7620000"/>
                  <a:ext cx="5486400" cy="1588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</p:cxnSp>
            <p:cxnSp>
              <p:nvCxnSpPr>
                <p:cNvPr id="16394" name="AutoShape 10"/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1219200" y="5486400"/>
                  <a:ext cx="11112" cy="281305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</p:cxnSp>
          </p:grpSp>
          <p:sp>
            <p:nvSpPr>
              <p:cNvPr id="18" name="Oval 17"/>
              <p:cNvSpPr/>
              <p:nvPr/>
            </p:nvSpPr>
            <p:spPr>
              <a:xfrm>
                <a:off x="2057400" y="6096000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3962400" y="6096000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1981200" y="5791200"/>
                <a:ext cx="3337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 smtClean="0">
                    <a:latin typeface="Bahnschrift SemiBold" pitchFamily="34" charset="0"/>
                  </a:rPr>
                  <a:t>A</a:t>
                </a:r>
                <a:endParaRPr lang="en-US" b="1" dirty="0">
                  <a:latin typeface="Bahnschrift SemiBold" pitchFamily="34" charset="0"/>
                </a:endParaRPr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3810000" y="5791200"/>
                <a:ext cx="32007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 smtClean="0">
                    <a:latin typeface="Bahnschrift SemiBold" pitchFamily="34" charset="0"/>
                  </a:rPr>
                  <a:t>B</a:t>
                </a:r>
                <a:endParaRPr lang="en-US" b="1" dirty="0">
                  <a:latin typeface="Bahnschrift SemiBold" pitchFamily="34" charset="0"/>
                </a:endParaRPr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4648200" y="6248400"/>
                <a:ext cx="129540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 smtClean="0"/>
                  <a:t>secant line</a:t>
                </a:r>
                <a:endParaRPr lang="en-US" dirty="0"/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1066800" y="4800600"/>
                <a:ext cx="31451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 smtClean="0"/>
                  <a:t>y</a:t>
                </a:r>
                <a:endParaRPr lang="en-US" dirty="0"/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6096000" y="7086600"/>
                <a:ext cx="32092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 smtClean="0"/>
                  <a:t>x</a:t>
                </a:r>
                <a:endParaRPr lang="en-US" dirty="0"/>
              </a:p>
            </p:txBody>
          </p:sp>
        </p:grpSp>
        <p:sp>
          <p:nvSpPr>
            <p:cNvPr id="30" name="Rectangle 29"/>
            <p:cNvSpPr/>
            <p:nvPr/>
          </p:nvSpPr>
          <p:spPr>
            <a:xfrm>
              <a:off x="914400" y="7543800"/>
              <a:ext cx="37382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 smtClean="0"/>
                <a:t>O</a:t>
              </a:r>
              <a:endParaRPr lang="en-US" b="1" dirty="0"/>
            </a:p>
          </p:txBody>
        </p:sp>
      </p:grp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381000" y="2819400"/>
            <a:ext cx="61722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202124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To have a better understanding,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202124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Let’s assume there is a curve in the </a:t>
            </a: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rgbClr val="202124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xy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202124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-plane and has a point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202124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202124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and a different point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202124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B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202124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 Connecting these two points we get a line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202124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AB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202124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which is called </a:t>
            </a:r>
            <a:r>
              <a:rPr lang="en-US" sz="2400" b="1" i="1" u="sng" dirty="0" smtClean="0">
                <a:solidFill>
                  <a:srgbClr val="202124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</a:t>
            </a:r>
            <a:r>
              <a:rPr kumimoji="0" lang="en-US" sz="2400" b="1" i="1" u="sng" strike="noStrike" cap="none" normalizeH="0" baseline="0" dirty="0" smtClean="0">
                <a:ln>
                  <a:noFill/>
                </a:ln>
                <a:solidFill>
                  <a:srgbClr val="202124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ecant line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202124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202124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for the curve at point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202124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202124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049" grpId="0"/>
      <p:bldP spid="307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05200"/>
            <a:ext cx="5638800" cy="2819400"/>
          </a:xfrm>
          <a:prstGeom prst="rect">
            <a:avLst/>
          </a:prstGeom>
        </p:spPr>
      </p:pic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304800" y="457200"/>
            <a:ext cx="6172200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202124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Now, if we move the point B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along the curve toward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</a:t>
            </a:r>
            <a:r>
              <a:rPr kumimoji="0" lang="en-US" sz="24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. </a:t>
            </a:r>
            <a:r>
              <a:rPr lang="en-US" sz="24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W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hen point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B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will be closest to point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but not on point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then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the secant line will rotate toward a </a:t>
            </a:r>
            <a:r>
              <a:rPr kumimoji="0" lang="en-US" sz="2400" b="0" i="1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limiting position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 This new position of the secant line is called tangent line at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 This concept also coincides with the previous concept of tangent line on a circle in plain geometry.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381000" y="6248400"/>
            <a:ext cx="6019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202124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The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202124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equation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202124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of the tangent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202124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line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rgbClr val="202124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is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202124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 ,</a:t>
            </a:r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685800" y="6705600"/>
          <a:ext cx="5105400" cy="996950"/>
        </p:xfrm>
        <a:graphic>
          <a:graphicData uri="http://schemas.openxmlformats.org/presentationml/2006/ole">
            <p:oleObj spid="_x0000_s2050" name="Equation" r:id="rId4" imgW="1104840" imgH="215640" progId="Equation.3">
              <p:embed/>
            </p:oleObj>
          </a:graphicData>
        </a:graphic>
      </p:graphicFrame>
      <p:grpSp>
        <p:nvGrpSpPr>
          <p:cNvPr id="11" name="Group 10"/>
          <p:cNvGrpSpPr/>
          <p:nvPr/>
        </p:nvGrpSpPr>
        <p:grpSpPr>
          <a:xfrm>
            <a:off x="457200" y="7696200"/>
            <a:ext cx="5943600" cy="1030307"/>
            <a:chOff x="457200" y="7696200"/>
            <a:chExt cx="5943600" cy="1030307"/>
          </a:xfrm>
        </p:grpSpPr>
        <p:sp>
          <p:nvSpPr>
            <p:cNvPr id="9" name="Rectangle 2"/>
            <p:cNvSpPr>
              <a:spLocks noChangeArrowheads="1"/>
            </p:cNvSpPr>
            <p:nvPr/>
          </p:nvSpPr>
          <p:spPr bwMode="auto">
            <a:xfrm>
              <a:off x="457200" y="7772400"/>
              <a:ext cx="5943600" cy="954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0" i="0" u="none" strike="noStrike" cap="none" normalizeH="0" baseline="0" dirty="0" smtClean="0">
                  <a:ln>
                    <a:noFill/>
                  </a:ln>
                  <a:solidFill>
                    <a:srgbClr val="202124"/>
                  </a:solidFill>
                  <a:effectLst/>
                  <a:latin typeface="Bell MT" pitchFamily="18" charset="0"/>
                  <a:ea typeface="Calibri" pitchFamily="34" charset="0"/>
                  <a:cs typeface="Arial" pitchFamily="34" charset="0"/>
                </a:rPr>
                <a:t>where </a:t>
              </a:r>
              <a:r>
                <a:rPr kumimoji="0" lang="en-US" sz="2800" b="1" i="0" u="none" strike="noStrike" cap="none" normalizeH="0" baseline="0" dirty="0" smtClean="0">
                  <a:ln>
                    <a:noFill/>
                  </a:ln>
                  <a:solidFill>
                    <a:srgbClr val="202124"/>
                  </a:solidFill>
                  <a:effectLst/>
                  <a:latin typeface="Bell MT" pitchFamily="18" charset="0"/>
                  <a:ea typeface="Calibri" pitchFamily="34" charset="0"/>
                  <a:cs typeface="Arial" pitchFamily="34" charset="0"/>
                </a:rPr>
                <a:t>m</a:t>
              </a:r>
              <a:r>
                <a:rPr kumimoji="0" lang="en-US" sz="2800" b="0" i="0" u="none" strike="noStrike" cap="none" normalizeH="0" baseline="0" dirty="0" smtClean="0">
                  <a:ln>
                    <a:noFill/>
                  </a:ln>
                  <a:solidFill>
                    <a:srgbClr val="202124"/>
                  </a:solidFill>
                  <a:effectLst/>
                  <a:latin typeface="Bell MT" pitchFamily="18" charset="0"/>
                  <a:ea typeface="Calibri" pitchFamily="34" charset="0"/>
                  <a:cs typeface="Arial" pitchFamily="34" charset="0"/>
                </a:rPr>
                <a:t> is the slope and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0" i="0" u="none" strike="noStrike" cap="none" normalizeH="0" baseline="0" dirty="0" smtClean="0">
                  <a:ln>
                    <a:noFill/>
                  </a:ln>
                  <a:solidFill>
                    <a:srgbClr val="202124"/>
                  </a:solidFill>
                  <a:effectLst/>
                  <a:latin typeface="Bell MT" pitchFamily="18" charset="0"/>
                  <a:ea typeface="Calibri" pitchFamily="34" charset="0"/>
                  <a:cs typeface="Arial" pitchFamily="34" charset="0"/>
                </a:rPr>
                <a:t> is the coordinate points of the line.</a:t>
              </a:r>
              <a:endPara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ell MT" pitchFamily="18" charset="0"/>
                <a:cs typeface="Arial" pitchFamily="34" charset="0"/>
              </a:endParaRPr>
            </a:p>
          </p:txBody>
        </p:sp>
        <p:graphicFrame>
          <p:nvGraphicFramePr>
            <p:cNvPr id="2051" name="Object 3"/>
            <p:cNvGraphicFramePr>
              <a:graphicFrameLocks noChangeAspect="1"/>
            </p:cNvGraphicFramePr>
            <p:nvPr/>
          </p:nvGraphicFramePr>
          <p:xfrm>
            <a:off x="4191000" y="7696200"/>
            <a:ext cx="1143000" cy="605731"/>
          </p:xfrm>
          <a:graphic>
            <a:graphicData uri="http://schemas.openxmlformats.org/presentationml/2006/ole">
              <p:oleObj spid="_x0000_s2051" name="Equation" r:id="rId5" imgW="457200" imgH="215640" progId="Equation.3">
                <p:embed/>
              </p:oleObj>
            </a:graphicData>
          </a:graphic>
        </p:graphicFrame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2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"/>
          <p:cNvSpPr>
            <a:spLocks noChangeArrowheads="1"/>
          </p:cNvSpPr>
          <p:nvPr/>
        </p:nvSpPr>
        <p:spPr bwMode="auto">
          <a:xfrm>
            <a:off x="1905000" y="8077200"/>
            <a:ext cx="2755900" cy="927100"/>
          </a:xfrm>
          <a:prstGeom prst="ribbon2">
            <a:avLst>
              <a:gd name="adj1" fmla="val 12500"/>
              <a:gd name="adj2" fmla="val 50000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381000" y="609600"/>
            <a:ext cx="6019800" cy="2923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ambria" pitchFamily="18" charset="0"/>
                <a:ea typeface="Cambria" pitchFamily="18" charset="0"/>
                <a:cs typeface="Times New Roman" pitchFamily="18" charset="0"/>
              </a:rPr>
              <a:t>Why tangent line is so important?</a:t>
            </a:r>
            <a:endParaRPr lang="en-US" sz="3200" dirty="0" smtClean="0">
              <a:solidFill>
                <a:srgbClr val="002060"/>
              </a:solidFill>
              <a:latin typeface="Cambria" pitchFamily="18" charset="0"/>
              <a:ea typeface="Cambria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rgbClr val="202124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202124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The tangent line is important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202124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to find the slope of a curve at a particular point on the curve. Following the equation</a:t>
            </a:r>
            <a:r>
              <a:rPr kumimoji="0" lang="en-US" sz="2400" b="1" i="0" u="none" strike="noStrike" cap="none" normalizeH="0" dirty="0" smtClean="0">
                <a:ln>
                  <a:noFill/>
                </a:ln>
                <a:solidFill>
                  <a:srgbClr val="202124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of tangent line,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032" name="Object 8"/>
          <p:cNvGraphicFramePr>
            <a:graphicFrameLocks noChangeAspect="1"/>
          </p:cNvGraphicFramePr>
          <p:nvPr/>
        </p:nvGraphicFramePr>
        <p:xfrm>
          <a:off x="395288" y="3276600"/>
          <a:ext cx="3783012" cy="714375"/>
        </p:xfrm>
        <a:graphic>
          <a:graphicData uri="http://schemas.openxmlformats.org/presentationml/2006/ole">
            <p:oleObj spid="_x0000_s1032" name="Equation" r:id="rId3" imgW="1143000" imgH="215640" progId="Equation.3">
              <p:embed/>
            </p:oleObj>
          </a:graphicData>
        </a:graphic>
      </p:graphicFrame>
      <p:sp>
        <p:nvSpPr>
          <p:cNvPr id="1038" name="Rectangle 14"/>
          <p:cNvSpPr>
            <a:spLocks noChangeArrowheads="1"/>
          </p:cNvSpPr>
          <p:nvPr/>
        </p:nvSpPr>
        <p:spPr bwMode="auto">
          <a:xfrm>
            <a:off x="0" y="0"/>
            <a:ext cx="6858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37" name="Object 13"/>
          <p:cNvGraphicFramePr>
            <a:graphicFrameLocks noChangeAspect="1"/>
          </p:cNvGraphicFramePr>
          <p:nvPr/>
        </p:nvGraphicFramePr>
        <p:xfrm>
          <a:off x="4343400" y="3124200"/>
          <a:ext cx="1371600" cy="1081454"/>
        </p:xfrm>
        <a:graphic>
          <a:graphicData uri="http://schemas.openxmlformats.org/presentationml/2006/ole">
            <p:oleObj spid="_x0000_s1037" name="Equation" r:id="rId4" imgW="495085" imgH="393529" progId="Equation.3">
              <p:embed/>
            </p:oleObj>
          </a:graphicData>
        </a:graphic>
      </p:graphicFrame>
      <p:sp>
        <p:nvSpPr>
          <p:cNvPr id="1046" name="Rectangle 22"/>
          <p:cNvSpPr>
            <a:spLocks noChangeArrowheads="1"/>
          </p:cNvSpPr>
          <p:nvPr/>
        </p:nvSpPr>
        <p:spPr bwMode="auto">
          <a:xfrm>
            <a:off x="0" y="0"/>
            <a:ext cx="6858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381000" y="4343400"/>
            <a:ext cx="6248400" cy="1722060"/>
            <a:chOff x="381000" y="4343400"/>
            <a:chExt cx="6248400" cy="1722060"/>
          </a:xfrm>
        </p:grpSpPr>
        <p:sp>
          <p:nvSpPr>
            <p:cNvPr id="1044" name="Rectangle 20"/>
            <p:cNvSpPr>
              <a:spLocks noChangeArrowheads="1"/>
            </p:cNvSpPr>
            <p:nvPr/>
          </p:nvSpPr>
          <p:spPr bwMode="auto">
            <a:xfrm>
              <a:off x="381000" y="4495800"/>
              <a:ext cx="6248400" cy="15696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We know tha</a:t>
              </a:r>
              <a:r>
                <a:rPr lang="en-US" sz="2400" dirty="0" smtClean="0"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t  </a:t>
              </a:r>
              <a:r>
                <a:rPr kumimoji="0" lang="en-US" sz="2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      is 1</a:t>
              </a:r>
              <a:r>
                <a:rPr kumimoji="0" lang="en-US" sz="2400" b="0" i="0" u="none" strike="noStrike" cap="none" normalizeH="0" baseline="30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st</a:t>
              </a:r>
              <a:r>
                <a:rPr kumimoji="0" lang="en-US" sz="2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 derivative of y with respect to x, so tangent line is not important only to get slope of a curve but also for calculus especially</a:t>
              </a:r>
              <a:r>
                <a:rPr kumimoji="0" lang="en-US" sz="2400" b="0" i="0" u="none" strike="noStrike" cap="none" normalizeH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 for limits and continuity</a:t>
              </a:r>
              <a:r>
                <a:rPr kumimoji="0" lang="en-US" sz="2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.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graphicFrame>
          <p:nvGraphicFramePr>
            <p:cNvPr id="1045" name="Object 21"/>
            <p:cNvGraphicFramePr>
              <a:graphicFrameLocks noChangeAspect="1"/>
            </p:cNvGraphicFramePr>
            <p:nvPr/>
          </p:nvGraphicFramePr>
          <p:xfrm>
            <a:off x="2286000" y="4343400"/>
            <a:ext cx="381000" cy="665163"/>
          </p:xfrm>
          <a:graphic>
            <a:graphicData uri="http://schemas.openxmlformats.org/presentationml/2006/ole">
              <p:oleObj spid="_x0000_s1045" name="Equation" r:id="rId5" imgW="228600" imgH="393480" progId="Equation.3">
                <p:embed/>
              </p:oleObj>
            </a:graphicData>
          </a:graphic>
        </p:graphicFrame>
      </p:grpSp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476</TotalTime>
  <Words>338</Words>
  <Application>Microsoft Office PowerPoint</Application>
  <PresentationFormat>A4 Paper (210x297 mm)</PresentationFormat>
  <Paragraphs>31</Paragraphs>
  <Slides>5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Civic</vt:lpstr>
      <vt:lpstr>Equation</vt:lpstr>
      <vt:lpstr>Microsoft Equation 3.0</vt:lpstr>
      <vt:lpstr>Tangent Line</vt:lpstr>
      <vt:lpstr>Slide 2</vt:lpstr>
      <vt:lpstr>Slide 3</vt:lpstr>
      <vt:lpstr>Slide 4</vt:lpstr>
      <vt:lpstr>Slide 5</vt:lpstr>
    </vt:vector>
  </TitlesOfParts>
  <Company>Deftones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Tangent Line</dc:title>
  <dc:creator>beautifulbd21@outlook.com</dc:creator>
  <cp:lastModifiedBy>beautifulbd21@outlook.com</cp:lastModifiedBy>
  <cp:revision>52</cp:revision>
  <dcterms:created xsi:type="dcterms:W3CDTF">2022-05-05T06:48:59Z</dcterms:created>
  <dcterms:modified xsi:type="dcterms:W3CDTF">2022-05-08T05:26:05Z</dcterms:modified>
</cp:coreProperties>
</file>