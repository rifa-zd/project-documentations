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4"/>
  </p:sldMasterIdLst>
  <p:notesMasterIdLst>
    <p:notesMasterId r:id="rId13"/>
  </p:notesMasterIdLst>
  <p:sldIdLst>
    <p:sldId id="256" r:id="rId5"/>
    <p:sldId id="257" r:id="rId6"/>
    <p:sldId id="258" r:id="rId7"/>
    <p:sldId id="260" r:id="rId8"/>
    <p:sldId id="262" r:id="rId9"/>
    <p:sldId id="263" r:id="rId10"/>
    <p:sldId id="264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63" autoAdjust="0"/>
    <p:restoredTop sz="94660" autoAdjust="0"/>
  </p:normalViewPr>
  <p:slideViewPr>
    <p:cSldViewPr snapToGrid="0">
      <p:cViewPr varScale="1">
        <p:scale>
          <a:sx n="72" d="100"/>
          <a:sy n="72" d="100"/>
        </p:scale>
        <p:origin x="-660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1.wmf"/><Relationship Id="rId1" Type="http://schemas.openxmlformats.org/officeDocument/2006/relationships/image" Target="../media/image22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00FA6-BE51-4038-B00B-0FB5877F28EB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6E8C2-D933-4326-A414-971EEA62A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841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6993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207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910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00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5415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135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156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564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99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901244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0134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519277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33632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80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005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2A6AC-9368-4499-9CF7-E7B5588C95B3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7D4B8D8-2B1F-479A-A885-CB5AEB05C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947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Relationship Id="rId9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8CD25866-F15D-40A4-AEC5-47C044637A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xmlns="" id="{DCB8E995-36E8-40B6-82D4-F52DE2987B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xmlns="" id="{DF54AEB5-68B5-46AE-B8F0-EEBE5DFED8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xmlns="" id="{E3F708CB-F094-4EE7-8AD5-A462F1DF8B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xmlns="" id="{ECFCFB22-E8B5-4FAC-A354-E7E0CE6F2B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xmlns="" id="{ED1DB3B4-A6DC-476F-986E-DF361EE842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xmlns="" id="{4EE13DFA-3489-4DE6-9154-34D9CB4005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3" name="Freeform 17">
              <a:extLst>
                <a:ext uri="{FF2B5EF4-FFF2-40B4-BE49-F238E27FC236}">
                  <a16:creationId xmlns:a16="http://schemas.microsoft.com/office/drawing/2014/main" xmlns="" id="{5CD12D51-F9A8-4CC9-B9C9-206EAFD8C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4" name="Freeform 18">
              <a:extLst>
                <a:ext uri="{FF2B5EF4-FFF2-40B4-BE49-F238E27FC236}">
                  <a16:creationId xmlns:a16="http://schemas.microsoft.com/office/drawing/2014/main" xmlns="" id="{266B326C-1178-40F9-A265-6067D363B4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xmlns="" id="{12F3B319-F00B-4755-BC54-95511E21DB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xmlns="" id="{3079D7BD-8A3F-47F6-8407-D9DA96FF35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xmlns="" id="{1F97C31C-8585-43FB-924B-8ADD651233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xmlns="" id="{A33E1C89-7E74-49BF-A5D1-9A352ED03E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0C4A17ED-96AA-44A6-A050-E1A7A1CDD9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xmlns="" id="{FBB2A87E-3E24-4A6F-9FD8-0F1436D4D3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xmlns="" id="{257F945B-2AA3-4328-BFF5-20DE64011B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xmlns="" id="{E1A7230F-6A6F-403C-9D83-7176E28525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xmlns="" id="{E33E315A-9CB0-460E-A8B7-0A064BBFA0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xmlns="" id="{22CAAD33-CFAD-4E61-82AE-0C6F838530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xmlns="" id="{1A20E13C-2540-4000-A13B-8F781100E3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3">
              <a:extLst>
                <a:ext uri="{FF2B5EF4-FFF2-40B4-BE49-F238E27FC236}">
                  <a16:creationId xmlns:a16="http://schemas.microsoft.com/office/drawing/2014/main" xmlns="" id="{51EF0A01-E03D-448B-B12E-D5BFC6D0D22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xmlns="" id="{58286A03-168E-477B-8876-2C53E4950D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xmlns="" id="{3DFFC705-1899-4E4C-AE76-F85BAF2F66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xmlns="" id="{01C9598D-BDF6-4A24-83B6-4DCA4D134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xmlns="" id="{950C8213-67CD-4DEF-AA44-8BB3101392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xmlns="" id="{2016FE1D-E3EB-4CF6-809B-159872CC787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xmlns="" id="{CE6C63DC-BAE4-42B6-8FDF-F6467C2D23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6" name="Freeform 6">
            <a:extLst>
              <a:ext uri="{FF2B5EF4-FFF2-40B4-BE49-F238E27FC236}">
                <a16:creationId xmlns:a16="http://schemas.microsoft.com/office/drawing/2014/main" xmlns="" id="{5BD23F8E-2E78-4C84-8EFB-FE6C8ACB7F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xmlns="" id="{57ABABA7-0420-4200-9B65-1C1967CE93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xmlns="" id="{7A03E380-9CD1-4ABA-A763-9F9D252B89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11" name="Freeform 11">
              <a:extLst>
                <a:ext uri="{FF2B5EF4-FFF2-40B4-BE49-F238E27FC236}">
                  <a16:creationId xmlns:a16="http://schemas.microsoft.com/office/drawing/2014/main" xmlns="" id="{66E01B84-4C2B-4DE5-90C8-9C4001A75B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12">
              <a:extLst>
                <a:ext uri="{FF2B5EF4-FFF2-40B4-BE49-F238E27FC236}">
                  <a16:creationId xmlns:a16="http://schemas.microsoft.com/office/drawing/2014/main" xmlns="" id="{64CE5A7A-D5C5-4FE5-860C-0B5748FDEE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13">
              <a:extLst>
                <a:ext uri="{FF2B5EF4-FFF2-40B4-BE49-F238E27FC236}">
                  <a16:creationId xmlns:a16="http://schemas.microsoft.com/office/drawing/2014/main" xmlns="" id="{016A7D2A-6EEA-47B8-A763-7D82E41B3CE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14">
              <a:extLst>
                <a:ext uri="{FF2B5EF4-FFF2-40B4-BE49-F238E27FC236}">
                  <a16:creationId xmlns:a16="http://schemas.microsoft.com/office/drawing/2014/main" xmlns="" id="{E758F6E7-6DEC-48D0-ACB1-E5E26B13E6C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5" name="Freeform 15">
              <a:extLst>
                <a:ext uri="{FF2B5EF4-FFF2-40B4-BE49-F238E27FC236}">
                  <a16:creationId xmlns:a16="http://schemas.microsoft.com/office/drawing/2014/main" xmlns="" id="{B56657FF-C027-42E7-859B-902929B6FA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xmlns="" id="{79047F2A-5978-46C6-B3A2-54AAC2136B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7" name="Freeform 17">
              <a:extLst>
                <a:ext uri="{FF2B5EF4-FFF2-40B4-BE49-F238E27FC236}">
                  <a16:creationId xmlns:a16="http://schemas.microsoft.com/office/drawing/2014/main" xmlns="" id="{F3BE8FD1-0A72-4640-AC7A-2E057273F87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8" name="Freeform 18">
              <a:extLst>
                <a:ext uri="{FF2B5EF4-FFF2-40B4-BE49-F238E27FC236}">
                  <a16:creationId xmlns:a16="http://schemas.microsoft.com/office/drawing/2014/main" xmlns="" id="{752FC782-A372-4D11-B20D-958955E5641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9" name="Freeform 19">
              <a:extLst>
                <a:ext uri="{FF2B5EF4-FFF2-40B4-BE49-F238E27FC236}">
                  <a16:creationId xmlns:a16="http://schemas.microsoft.com/office/drawing/2014/main" xmlns="" id="{AA00B2F1-BEE2-444A-8249-C8E3212CA1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0" name="Freeform 20">
              <a:extLst>
                <a:ext uri="{FF2B5EF4-FFF2-40B4-BE49-F238E27FC236}">
                  <a16:creationId xmlns:a16="http://schemas.microsoft.com/office/drawing/2014/main" xmlns="" id="{E7F5747E-514B-4CF7-B6B0-DAD71490978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1" name="Freeform 21">
              <a:extLst>
                <a:ext uri="{FF2B5EF4-FFF2-40B4-BE49-F238E27FC236}">
                  <a16:creationId xmlns:a16="http://schemas.microsoft.com/office/drawing/2014/main" xmlns="" id="{931614BB-1593-40ED-8113-2BD1187055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2" name="Freeform 22">
              <a:extLst>
                <a:ext uri="{FF2B5EF4-FFF2-40B4-BE49-F238E27FC236}">
                  <a16:creationId xmlns:a16="http://schemas.microsoft.com/office/drawing/2014/main" xmlns="" id="{2691871F-F15C-4E19-BC9C-78E5748D74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xmlns="" id="{8576F020-8157-45CE-B1D9-6FA47AFEB4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8414ED-2AAA-10F0-EC05-798955AE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6" y="1870023"/>
            <a:ext cx="7572357" cy="3855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>Solution Method </a:t>
            </a:r>
            <a:b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>of </a:t>
            </a:r>
            <a:r>
              <a:rPr lang="en-US" sz="2800" i="1" dirty="0">
                <a:solidFill>
                  <a:srgbClr val="FFFFFF"/>
                </a:solidFill>
                <a:latin typeface="Book Antiqua" panose="02040602050305030304" pitchFamily="18" charset="0"/>
              </a:rPr>
              <a:t/>
            </a:r>
            <a:br>
              <a:rPr lang="en-US" sz="2800" i="1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2500" i="1" dirty="0">
                <a:solidFill>
                  <a:srgbClr val="FFFFFF"/>
                </a:solidFill>
                <a:latin typeface="Book Antiqua" panose="02040602050305030304" pitchFamily="18" charset="0"/>
              </a:rPr>
              <a:t>Higher Order Homogeneous Linear Differential Equation </a:t>
            </a: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/>
            </a:r>
            <a:b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3600" i="1" dirty="0">
                <a:solidFill>
                  <a:srgbClr val="FFFFFF"/>
                </a:solidFill>
                <a:latin typeface="Book Antiqua" panose="02040602050305030304" pitchFamily="18" charset="0"/>
              </a:rPr>
              <a:t>with </a:t>
            </a: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/>
            </a:r>
            <a:b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>Constant Coefficients </a:t>
            </a:r>
            <a:b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>when </a:t>
            </a:r>
            <a:b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3200" i="1" dirty="0">
                <a:solidFill>
                  <a:srgbClr val="FFFFFF"/>
                </a:solidFill>
                <a:latin typeface="Book Antiqua" panose="02040602050305030304" pitchFamily="18" charset="0"/>
              </a:rPr>
              <a:t>roots are not equal</a:t>
            </a:r>
            <a:endParaRPr lang="en-US" sz="3600" i="1" dirty="0">
              <a:solidFill>
                <a:srgbClr val="FFFFFF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6920E64-A51D-C5B4-FC23-DFED9C3DC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7352" y="2067339"/>
            <a:ext cx="4114648" cy="3178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i="1" cap="all" dirty="0">
                <a:solidFill>
                  <a:srgbClr val="C00000"/>
                </a:solidFill>
                <a:latin typeface="Bookman Old Style" panose="02050604050505020204" pitchFamily="18" charset="0"/>
              </a:rPr>
              <a:t>Name:</a:t>
            </a:r>
            <a:r>
              <a:rPr lang="en-US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b="1" i="1" cap="all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Rifa</a:t>
            </a:r>
            <a:r>
              <a:rPr lang="en-US" b="1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 Azad</a:t>
            </a:r>
          </a:p>
          <a:p>
            <a:pPr algn="r"/>
            <a:r>
              <a:rPr lang="en-US" i="1" cap="all" dirty="0">
                <a:solidFill>
                  <a:srgbClr val="C00000"/>
                </a:solidFill>
                <a:latin typeface="Bookman Old Style" panose="02050604050505020204" pitchFamily="18" charset="0"/>
              </a:rPr>
              <a:t>ID:</a:t>
            </a:r>
            <a:r>
              <a:rPr lang="en-US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b="1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2022-1-60-265</a:t>
            </a:r>
          </a:p>
          <a:p>
            <a:pPr algn="r"/>
            <a:r>
              <a:rPr lang="en-US" i="1" cap="all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Course:</a:t>
            </a:r>
            <a:r>
              <a:rPr lang="en-US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b="1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MAT102</a:t>
            </a:r>
          </a:p>
          <a:p>
            <a:pPr algn="r"/>
            <a:r>
              <a:rPr lang="en-US" i="1" cap="all" dirty="0">
                <a:solidFill>
                  <a:srgbClr val="C00000"/>
                </a:solidFill>
                <a:latin typeface="Bookman Old Style" panose="02050604050505020204" pitchFamily="18" charset="0"/>
              </a:rPr>
              <a:t>Section:</a:t>
            </a:r>
            <a:r>
              <a:rPr lang="en-US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b="1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01</a:t>
            </a:r>
          </a:p>
          <a:p>
            <a:pPr algn="r"/>
            <a:r>
              <a:rPr lang="en-US" sz="1400" i="1" cap="all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Instructor: </a:t>
            </a:r>
            <a:r>
              <a:rPr lang="en-US" sz="1400" b="1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Dr. </a:t>
            </a:r>
            <a:r>
              <a:rPr lang="en-US" sz="1400" b="1" i="1" cap="all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Anindita</a:t>
            </a:r>
            <a:r>
              <a:rPr lang="en-US" sz="1400" b="1" i="1" cap="all" dirty="0">
                <a:solidFill>
                  <a:schemeClr val="tx1"/>
                </a:solidFill>
                <a:latin typeface="Bookman Old Style" panose="02050604050505020204" pitchFamily="18" charset="0"/>
              </a:rPr>
              <a:t> Paul</a:t>
            </a:r>
          </a:p>
          <a:p>
            <a:endParaRPr lang="en-US" sz="1600" cap="all" dirty="0">
              <a:solidFill>
                <a:schemeClr val="tx1"/>
              </a:solidFill>
            </a:endParaRPr>
          </a:p>
          <a:p>
            <a:endParaRPr lang="en-US" sz="1800" cap="al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511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868569" y="633379"/>
            <a:ext cx="7650279" cy="542745"/>
            <a:chOff x="709542" y="686389"/>
            <a:chExt cx="7650279" cy="54274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27294C5E-DCEE-7884-16B9-41BF49F458C9}"/>
                </a:ext>
              </a:extLst>
            </p:cNvPr>
            <p:cNvSpPr txBox="1"/>
            <p:nvPr/>
          </p:nvSpPr>
          <p:spPr>
            <a:xfrm>
              <a:off x="1224534" y="753435"/>
              <a:ext cx="71352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sz="2400" dirty="0">
                  <a:latin typeface="Bookman Old Style" panose="02050604050505020204" pitchFamily="18" charset="0"/>
                </a:rPr>
                <a:t>What is Higher order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Differential </a:t>
              </a:r>
              <a:r>
                <a:rPr lang="en-US" sz="2400" dirty="0">
                  <a:latin typeface="Bookman Old Style" panose="02050604050505020204" pitchFamily="18" charset="0"/>
                </a:rPr>
                <a:t>equation?</a:t>
              </a:r>
            </a:p>
          </p:txBody>
        </p:sp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xmlns="" id="{17FA976D-9746-B57A-64F9-571E5FE7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9542" y="686389"/>
              <a:ext cx="528244" cy="542745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705826" y="1381572"/>
            <a:ext cx="11287392" cy="2468294"/>
            <a:chOff x="613060" y="1553852"/>
            <a:chExt cx="11287392" cy="246829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613060" y="1553852"/>
              <a:ext cx="11287392" cy="7270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Font typeface="Wingdings" panose="05000000000000000000" pitchFamily="2" charset="2"/>
                <a:buChar char="Ø"/>
              </a:pPr>
              <a:r>
                <a:rPr lang="en-US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When the order of a differential equation is more than 1, then that equation is defined as </a:t>
              </a:r>
              <a:r>
                <a:rPr lang="en-US" sz="2000" b="1" i="1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higher order differential equation, </a:t>
              </a:r>
              <a:r>
                <a:rPr lang="en-US" sz="2000" b="1" i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such as</a:t>
              </a:r>
              <a:r>
                <a:rPr lang="en-US" sz="2000" b="1" i="1" dirty="0" smtClean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:</a:t>
              </a:r>
              <a:endParaRPr lang="en-US" sz="12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7CD9496D-310B-909A-B915-CC61F4429265}"/>
                </a:ext>
              </a:extLst>
            </p:cNvPr>
            <p:cNvSpPr txBox="1"/>
            <p:nvPr/>
          </p:nvSpPr>
          <p:spPr>
            <a:xfrm>
              <a:off x="5559180" y="3037541"/>
              <a:ext cx="384555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en-US" dirty="0"/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2590249" y="2314781"/>
            <a:ext cx="5016498" cy="1707365"/>
          </p:xfrm>
          <a:graphic>
            <a:graphicData uri="http://schemas.openxmlformats.org/presentationml/2006/ole">
              <p:oleObj spid="_x0000_s1026" name="Equation" r:id="rId4" imgW="1498320" imgH="634680" progId="Equation.3">
                <p:embed/>
              </p:oleObj>
            </a:graphicData>
          </a:graphic>
        </p:graphicFrame>
      </p:grpSp>
      <p:sp>
        <p:nvSpPr>
          <p:cNvPr id="22" name="Rounded Rectangular Callout 21"/>
          <p:cNvSpPr/>
          <p:nvPr/>
        </p:nvSpPr>
        <p:spPr>
          <a:xfrm>
            <a:off x="8746435" y="2014330"/>
            <a:ext cx="2464904" cy="1007166"/>
          </a:xfrm>
          <a:prstGeom prst="wedgeRoundRectCallout">
            <a:avLst>
              <a:gd name="adj1" fmla="val -93951"/>
              <a:gd name="adj2" fmla="val 190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Here, </a:t>
            </a:r>
            <a:r>
              <a:rPr lang="en-US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order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the equation is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4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degree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906757" y="3622534"/>
            <a:ext cx="11113240" cy="2552979"/>
            <a:chOff x="906757" y="3622534"/>
            <a:chExt cx="11113240" cy="255297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7294C5E-DCEE-7884-16B9-41BF49F458C9}"/>
                </a:ext>
              </a:extLst>
            </p:cNvPr>
            <p:cNvSpPr txBox="1"/>
            <p:nvPr/>
          </p:nvSpPr>
          <p:spPr>
            <a:xfrm>
              <a:off x="1281111" y="3622534"/>
              <a:ext cx="1063259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sz="2400" dirty="0" smtClean="0">
                  <a:latin typeface="Georgia" pitchFamily="18" charset="0"/>
                  <a:cs typeface="Arial" pitchFamily="34" charset="0"/>
                </a:rPr>
                <a:t>And</a:t>
              </a:r>
              <a:r>
                <a:rPr lang="en-US" sz="2000" dirty="0" smtClean="0">
                  <a:latin typeface="Georgia" pitchFamily="18" charset="0"/>
                  <a:cs typeface="Arial" pitchFamily="34" charset="0"/>
                </a:rPr>
                <a:t>, </a:t>
              </a:r>
              <a:r>
                <a:rPr lang="en-US" sz="2400" dirty="0" smtClean="0">
                  <a:latin typeface="Georgia" pitchFamily="18" charset="0"/>
                  <a:cs typeface="Arial" pitchFamily="34" charset="0"/>
                </a:rPr>
                <a:t>the</a:t>
              </a:r>
              <a:r>
                <a:rPr lang="en-US" sz="2000" dirty="0" smtClean="0">
                  <a:solidFill>
                    <a:srgbClr val="C00000"/>
                  </a:solidFill>
                  <a:latin typeface="Georgia" pitchFamily="18" charset="0"/>
                  <a:cs typeface="Arial" pitchFamily="34" charset="0"/>
                </a:rPr>
                <a:t> </a:t>
              </a:r>
              <a:r>
                <a:rPr lang="en-US" sz="2400" dirty="0" smtClean="0">
                  <a:solidFill>
                    <a:srgbClr val="C00000"/>
                  </a:solidFill>
                  <a:latin typeface="Georgia"/>
                </a:rPr>
                <a:t>linear homogeneous differential equation of the </a:t>
              </a:r>
              <a:r>
                <a:rPr lang="en-US" sz="2400" i="1" dirty="0" smtClean="0">
                  <a:solidFill>
                    <a:srgbClr val="C00000"/>
                  </a:solidFill>
                  <a:latin typeface="Georgia"/>
                </a:rPr>
                <a:t>n</a:t>
              </a:r>
              <a:r>
                <a:rPr lang="en-US" sz="2400" dirty="0" smtClean="0">
                  <a:solidFill>
                    <a:srgbClr val="C00000"/>
                  </a:solidFill>
                  <a:latin typeface="Georgia"/>
                </a:rPr>
                <a:t>th order with constant coefficients</a:t>
              </a:r>
              <a:r>
                <a:rPr lang="en-US" sz="2400" dirty="0" smtClean="0">
                  <a:solidFill>
                    <a:srgbClr val="000000"/>
                  </a:solidFill>
                  <a:latin typeface="Georgia"/>
                </a:rPr>
                <a:t> can be written as </a:t>
              </a:r>
              <a:r>
                <a:rPr lang="en-US" sz="2800" b="1" dirty="0" smtClean="0">
                  <a:latin typeface="Bookman Old Style" panose="02050604050505020204" pitchFamily="18" charset="0"/>
                </a:rPr>
                <a:t> :</a:t>
              </a:r>
              <a:endParaRPr lang="en-US" sz="2400" b="1" dirty="0">
                <a:latin typeface="Bookman Old Style" panose="02050604050505020204" pitchFamily="18" charset="0"/>
              </a:endParaRPr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2626160" y="4619747"/>
            <a:ext cx="8240623" cy="641365"/>
          </p:xfrm>
          <a:graphic>
            <a:graphicData uri="http://schemas.openxmlformats.org/presentationml/2006/ole">
              <p:oleObj spid="_x0000_s1027" name="Equation" r:id="rId5" imgW="2705040" imgH="241200" progId="Equation.3">
                <p:embed/>
              </p:oleObj>
            </a:graphicData>
          </a:graphic>
        </p:graphicFrame>
        <p:grpSp>
          <p:nvGrpSpPr>
            <p:cNvPr id="28" name="Group 27"/>
            <p:cNvGrpSpPr/>
            <p:nvPr/>
          </p:nvGrpSpPr>
          <p:grpSpPr>
            <a:xfrm>
              <a:off x="906757" y="5573119"/>
              <a:ext cx="11113240" cy="602394"/>
              <a:chOff x="800740" y="5069536"/>
              <a:chExt cx="11113240" cy="60239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F97B347D-45AC-7C0F-4356-D048FFBC6350}"/>
                  </a:ext>
                </a:extLst>
              </p:cNvPr>
              <p:cNvSpPr txBox="1"/>
              <p:nvPr/>
            </p:nvSpPr>
            <p:spPr>
              <a:xfrm>
                <a:off x="800740" y="5103906"/>
                <a:ext cx="3560246" cy="454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200" dirty="0" smtClean="0">
                    <a:effectLst/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Where the coefficients</a:t>
                </a:r>
                <a:r>
                  <a:rPr lang="en-US" sz="2200" dirty="0" smtClean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2200" b="1" i="1" dirty="0" smtClean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US" sz="2200" b="1" i="1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25" name="Object 24"/>
              <p:cNvGraphicFramePr>
                <a:graphicFrameLocks noChangeAspect="1"/>
              </p:cNvGraphicFramePr>
              <p:nvPr/>
            </p:nvGraphicFramePr>
            <p:xfrm>
              <a:off x="4206546" y="5069536"/>
              <a:ext cx="2909871" cy="549386"/>
            </p:xfrm>
            <a:graphic>
              <a:graphicData uri="http://schemas.openxmlformats.org/presentationml/2006/ole">
                <p:oleObj spid="_x0000_s1028" name="Equation" r:id="rId6" imgW="914400" imgH="228600" progId="Equation.3">
                  <p:embed/>
                </p:oleObj>
              </a:graphicData>
            </a:graphic>
          </p:graphicFrame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F97B347D-45AC-7C0F-4356-D048FFBC6350}"/>
                  </a:ext>
                </a:extLst>
              </p:cNvPr>
              <p:cNvSpPr txBox="1"/>
              <p:nvPr/>
            </p:nvSpPr>
            <p:spPr>
              <a:xfrm>
                <a:off x="6718853" y="5151308"/>
                <a:ext cx="3366564" cy="454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200" dirty="0" smtClean="0"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ar</a:t>
                </a:r>
                <a:r>
                  <a:rPr lang="en-US" sz="2200" dirty="0" smtClean="0">
                    <a:effectLst/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e real constants and</a:t>
                </a:r>
                <a:endParaRPr lang="en-US" sz="2200" b="1" i="1" dirty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27" name="Object 26"/>
              <p:cNvGraphicFramePr>
                <a:graphicFrameLocks noChangeAspect="1"/>
              </p:cNvGraphicFramePr>
              <p:nvPr/>
            </p:nvGraphicFramePr>
            <p:xfrm>
              <a:off x="10193405" y="5102156"/>
              <a:ext cx="1720575" cy="569774"/>
            </p:xfrm>
            <a:graphic>
              <a:graphicData uri="http://schemas.openxmlformats.org/presentationml/2006/ole">
                <p:oleObj spid="_x0000_s1029" name="Equation" r:id="rId7" imgW="419040" imgH="228600" progId="Equation.3">
                  <p:embed/>
                </p:oleObj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xmlns="" val="1572771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702671" y="501643"/>
            <a:ext cx="11224285" cy="830997"/>
            <a:chOff x="715923" y="567904"/>
            <a:chExt cx="11224285" cy="830997"/>
          </a:xfrm>
        </p:grpSpPr>
        <p:pic>
          <p:nvPicPr>
            <p:cNvPr id="2" name="Picture 1" descr="solution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923" y="619843"/>
              <a:ext cx="625861" cy="625861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27294C5E-DCEE-7884-16B9-41BF49F458C9}"/>
                </a:ext>
              </a:extLst>
            </p:cNvPr>
            <p:cNvSpPr txBox="1"/>
            <p:nvPr/>
          </p:nvSpPr>
          <p:spPr>
            <a:xfrm>
              <a:off x="1251038" y="567904"/>
              <a:ext cx="106891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sz="2400" dirty="0" smtClean="0">
                  <a:latin typeface="Bookman Old Style" panose="02050604050505020204" pitchFamily="18" charset="0"/>
                </a:rPr>
                <a:t>Solution method for </a:t>
              </a:r>
              <a:r>
                <a:rPr lang="en-US" sz="2400" dirty="0" smtClean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Higher </a:t>
              </a:r>
              <a:r>
                <a:rPr lang="en-US" sz="2400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order </a:t>
              </a:r>
              <a:r>
                <a:rPr lang="en-US" sz="2400" dirty="0" smtClean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Homogeneous Linear </a:t>
              </a:r>
              <a:r>
                <a:rPr lang="en-US" sz="2400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Differential </a:t>
              </a:r>
              <a:r>
                <a:rPr lang="en-US" sz="2400" dirty="0" smtClean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equation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with constant coefficients when </a:t>
              </a:r>
              <a:r>
                <a:rPr lang="en-US" sz="2400" dirty="0" smtClean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man Old Style" panose="02050604050505020204" pitchFamily="18" charset="0"/>
                </a:rPr>
                <a:t>roots are not equal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: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97B347D-45AC-7C0F-4356-D048FFBC6350}"/>
              </a:ext>
            </a:extLst>
          </p:cNvPr>
          <p:cNvSpPr txBox="1"/>
          <p:nvPr/>
        </p:nvSpPr>
        <p:spPr>
          <a:xfrm>
            <a:off x="1357332" y="1565576"/>
            <a:ext cx="7018043" cy="429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Consider a second order in which roots are distinct</a:t>
            </a:r>
            <a:r>
              <a:rPr lang="en-US" sz="2200" b="1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200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874839" y="2001837"/>
            <a:ext cx="8819666" cy="1165433"/>
            <a:chOff x="2149549" y="2028342"/>
            <a:chExt cx="7863513" cy="1085850"/>
          </a:xfrm>
        </p:grpSpPr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2149549" y="2028342"/>
            <a:ext cx="4625677" cy="1085850"/>
          </p:xfrm>
          <a:graphic>
            <a:graphicData uri="http://schemas.openxmlformats.org/presentationml/2006/ole">
              <p:oleObj spid="_x0000_s21511" name="Equation" r:id="rId4" imgW="1638000" imgH="419040" progId="Equation.3">
                <p:embed/>
              </p:oleObj>
            </a:graphicData>
          </a:graphic>
        </p:graphicFrame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6452816" y="2387212"/>
              <a:ext cx="3560246" cy="487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b="1" dirty="0" smtClean="0">
                  <a:effectLst/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;</a:t>
              </a:r>
              <a:r>
                <a:rPr lang="en-US" sz="2400" dirty="0" smtClean="0">
                  <a:effectLst/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 a, b, c are constants</a:t>
              </a:r>
              <a:endParaRPr lang="en-US" sz="24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905460" y="2968487"/>
            <a:ext cx="1987827" cy="1802296"/>
            <a:chOff x="9182695" y="2467274"/>
            <a:chExt cx="2146852" cy="1877236"/>
          </a:xfrm>
        </p:grpSpPr>
        <p:graphicFrame>
          <p:nvGraphicFramePr>
            <p:cNvPr id="26" name="Object 25"/>
            <p:cNvGraphicFramePr>
              <a:graphicFrameLocks noChangeAspect="1"/>
            </p:cNvGraphicFramePr>
            <p:nvPr/>
          </p:nvGraphicFramePr>
          <p:xfrm>
            <a:off x="9794418" y="2794006"/>
            <a:ext cx="1166190" cy="1550504"/>
          </p:xfrm>
          <a:graphic>
            <a:graphicData uri="http://schemas.openxmlformats.org/presentationml/2006/ole">
              <p:oleObj spid="_x0000_s21512" name="Equation" r:id="rId5" imgW="609480" imgH="838080" progId="Equation.3">
                <p:embed/>
              </p:oleObj>
            </a:graphicData>
          </a:graphic>
        </p:graphicFrame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9182695" y="2467274"/>
              <a:ext cx="2146852" cy="429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Assume</a:t>
              </a:r>
              <a:r>
                <a:rPr lang="en-US" sz="2200" b="1" i="1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endParaRPr lang="en-US" sz="22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1932472" y="3384413"/>
          <a:ext cx="5767042" cy="1426127"/>
        </p:xfrm>
        <a:graphic>
          <a:graphicData uri="http://schemas.openxmlformats.org/presentationml/2006/ole">
            <p:oleObj spid="_x0000_s21513" name="Equation" r:id="rId6" imgW="1930320" imgH="482400" progId="Equation.3">
              <p:embed/>
            </p:oleObj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1302175" y="5012669"/>
            <a:ext cx="10121199" cy="1308619"/>
            <a:chOff x="1249166" y="4986165"/>
            <a:chExt cx="10121199" cy="130861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1249166" y="4986165"/>
              <a:ext cx="10121199" cy="4294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Georgia" pitchFamily="18" charset="0"/>
                  <a:ea typeface="Calibri" panose="020F0502020204030204" pitchFamily="34" charset="0"/>
                  <a:cs typeface="Arial" pitchFamily="34" charset="0"/>
                </a:rPr>
                <a:t>We know, for any higher </a:t>
              </a:r>
              <a:r>
                <a:rPr 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Georgia" pitchFamily="18" charset="0"/>
                  <a:ea typeface="Calibri" panose="020F0502020204030204" pitchFamily="34" charset="0"/>
                  <a:cs typeface="Arial" pitchFamily="34" charset="0"/>
                </a:rPr>
                <a:t>order differential </a:t>
              </a:r>
              <a:r>
                <a:rPr lang="en-US" sz="2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Georgia" pitchFamily="18" charset="0"/>
                  <a:ea typeface="Calibri" panose="020F0502020204030204" pitchFamily="34" charset="0"/>
                  <a:cs typeface="Arial" pitchFamily="34" charset="0"/>
                </a:rPr>
                <a:t>equation</a:t>
              </a:r>
              <a:r>
                <a:rPr lang="en-US" sz="2200" dirty="0" smtClean="0">
                  <a:solidFill>
                    <a:srgbClr val="C00000"/>
                  </a:solidFill>
                  <a:latin typeface="Georgia" pitchFamily="18" charset="0"/>
                  <a:ea typeface="Calibri" panose="020F0502020204030204" pitchFamily="34" charset="0"/>
                  <a:cs typeface="Arial" pitchFamily="34" charset="0"/>
                </a:rPr>
                <a:t> </a:t>
              </a:r>
              <a:r>
                <a:rPr lang="en-US" sz="2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itchFamily="18" charset="0"/>
                  <a:ea typeface="Calibri" panose="020F0502020204030204" pitchFamily="34" charset="0"/>
                  <a:cs typeface="Arial" pitchFamily="34" charset="0"/>
                </a:rPr>
                <a:t>the solution is always </a:t>
              </a:r>
              <a:r>
                <a:rPr lang="en-US" sz="2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itchFamily="18" charset="0"/>
                  <a:ea typeface="Calibri" panose="020F0502020204030204" pitchFamily="34" charset="0"/>
                  <a:cs typeface="Calibri" pitchFamily="34" charset="0"/>
                </a:rPr>
                <a:t>: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5075582" y="5526158"/>
              <a:ext cx="2120347" cy="768626"/>
              <a:chOff x="5075582" y="5526158"/>
              <a:chExt cx="2120347" cy="768626"/>
            </a:xfrm>
          </p:grpSpPr>
          <p:graphicFrame>
            <p:nvGraphicFramePr>
              <p:cNvPr id="31" name="Object 30"/>
              <p:cNvGraphicFramePr>
                <a:graphicFrameLocks noChangeAspect="1"/>
              </p:cNvGraphicFramePr>
              <p:nvPr/>
            </p:nvGraphicFramePr>
            <p:xfrm>
              <a:off x="5370722" y="5565912"/>
              <a:ext cx="1560167" cy="649358"/>
            </p:xfrm>
            <a:graphic>
              <a:graphicData uri="http://schemas.openxmlformats.org/presentationml/2006/ole">
                <p:oleObj spid="_x0000_s21514" name="Equation" r:id="rId7" imgW="469800" imgH="228600" progId="Equation.3">
                  <p:embed/>
                </p:oleObj>
              </a:graphicData>
            </a:graphic>
          </p:graphicFrame>
          <p:sp>
            <p:nvSpPr>
              <p:cNvPr id="16" name="Rounded Rectangle 15"/>
              <p:cNvSpPr/>
              <p:nvPr/>
            </p:nvSpPr>
            <p:spPr>
              <a:xfrm>
                <a:off x="5075582" y="5526158"/>
                <a:ext cx="2120347" cy="768626"/>
              </a:xfrm>
              <a:prstGeom prst="roundRect">
                <a:avLst/>
              </a:prstGeom>
              <a:noFill/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610139" y="445765"/>
            <a:ext cx="3624469" cy="459741"/>
            <a:chOff x="1517374" y="366252"/>
            <a:chExt cx="3889514" cy="45974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1517374" y="366252"/>
              <a:ext cx="3889514" cy="4597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Equation(1) becomes</a:t>
              </a:r>
              <a:r>
                <a:rPr lang="en-US" sz="2400" b="1" i="1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endParaRPr lang="en-US" sz="24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3" name="Object 2"/>
            <p:cNvGraphicFramePr>
              <a:graphicFrameLocks noChangeAspect="1"/>
            </p:cNvGraphicFramePr>
            <p:nvPr/>
          </p:nvGraphicFramePr>
          <p:xfrm>
            <a:off x="1613175" y="421930"/>
            <a:ext cx="334893" cy="304448"/>
          </p:xfrm>
          <a:graphic>
            <a:graphicData uri="http://schemas.openxmlformats.org/presentationml/2006/ole">
              <p:oleObj spid="_x0000_s24578" name="Equation" r:id="rId3" imgW="139680" imgH="126720" progId="Equation.3">
                <p:embed/>
              </p:oleObj>
            </a:graphicData>
          </a:graphic>
        </p:graphicFrame>
      </p:grp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471530" y="977486"/>
          <a:ext cx="4040188" cy="1289050"/>
        </p:xfrm>
        <a:graphic>
          <a:graphicData uri="http://schemas.openxmlformats.org/presentationml/2006/ole">
            <p:oleObj spid="_x0000_s24579" name="Equation" r:id="rId4" imgW="1650960" imgH="482400" progId="Equation.3">
              <p:embed/>
            </p:oleObj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1643271" y="1736035"/>
            <a:ext cx="10164415" cy="2008227"/>
            <a:chOff x="1431236" y="1537252"/>
            <a:chExt cx="10164415" cy="2008227"/>
          </a:xfrm>
        </p:grpSpPr>
        <p:grpSp>
          <p:nvGrpSpPr>
            <p:cNvPr id="28" name="Group 27"/>
            <p:cNvGrpSpPr/>
            <p:nvPr/>
          </p:nvGrpSpPr>
          <p:grpSpPr>
            <a:xfrm>
              <a:off x="1431236" y="2292143"/>
              <a:ext cx="6732674" cy="676343"/>
              <a:chOff x="1431236" y="2292143"/>
              <a:chExt cx="6732674" cy="676343"/>
            </a:xfrm>
          </p:grpSpPr>
          <p:graphicFrame>
            <p:nvGraphicFramePr>
              <p:cNvPr id="6" name="Object 5"/>
              <p:cNvGraphicFramePr>
                <a:graphicFrameLocks noChangeAspect="1"/>
              </p:cNvGraphicFramePr>
              <p:nvPr/>
            </p:nvGraphicFramePr>
            <p:xfrm>
              <a:off x="4999104" y="2292143"/>
              <a:ext cx="3164806" cy="610083"/>
            </p:xfrm>
            <a:graphic>
              <a:graphicData uri="http://schemas.openxmlformats.org/presentationml/2006/ole">
                <p:oleObj spid="_x0000_s24580" name="Equation" r:id="rId5" imgW="1054080" imgH="203040" progId="Equation.3">
                  <p:embed/>
                </p:oleObj>
              </a:graphicData>
            </a:graphic>
          </p:graphicFrame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F97B347D-45AC-7C0F-4356-D048FFBC6350}"/>
                  </a:ext>
                </a:extLst>
              </p:cNvPr>
              <p:cNvSpPr txBox="1"/>
              <p:nvPr/>
            </p:nvSpPr>
            <p:spPr>
              <a:xfrm>
                <a:off x="1431236" y="2453469"/>
                <a:ext cx="1245703" cy="487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dirty="0" smtClean="0"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but</a:t>
                </a:r>
                <a:r>
                  <a:rPr lang="en-US" sz="2200" b="1" i="1" dirty="0" smtClean="0"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, </a:t>
                </a:r>
                <a:endParaRPr lang="en-US" sz="2200" b="1" i="1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9" name="Object 8"/>
              <p:cNvGraphicFramePr>
                <a:graphicFrameLocks noChangeAspect="1"/>
              </p:cNvGraphicFramePr>
              <p:nvPr/>
            </p:nvGraphicFramePr>
            <p:xfrm>
              <a:off x="2693780" y="2345150"/>
              <a:ext cx="1361386" cy="623336"/>
            </p:xfrm>
            <a:graphic>
              <a:graphicData uri="http://schemas.openxmlformats.org/presentationml/2006/ole">
                <p:oleObj spid="_x0000_s24582" name="Equation" r:id="rId6" imgW="469800" imgH="203040" progId="Equation.3">
                  <p:embed/>
                </p:oleObj>
              </a:graphicData>
            </a:graphic>
          </p:graphicFrame>
          <p:graphicFrame>
            <p:nvGraphicFramePr>
              <p:cNvPr id="11" name="Object 10"/>
              <p:cNvGraphicFramePr>
                <a:graphicFrameLocks noChangeAspect="1"/>
              </p:cNvGraphicFramePr>
              <p:nvPr/>
            </p:nvGraphicFramePr>
            <p:xfrm>
              <a:off x="4488996" y="2442886"/>
              <a:ext cx="467318" cy="446088"/>
            </p:xfrm>
            <a:graphic>
              <a:graphicData uri="http://schemas.openxmlformats.org/presentationml/2006/ole">
                <p:oleObj spid="_x0000_s24583" name="Equation" r:id="rId7" imgW="139680" imgH="126720" progId="Equation.3">
                  <p:embed/>
                </p:oleObj>
              </a:graphicData>
            </a:graphic>
          </p:graphicFrame>
        </p:grpSp>
        <p:sp>
          <p:nvSpPr>
            <p:cNvPr id="12" name="Cloud Callout 11"/>
            <p:cNvSpPr/>
            <p:nvPr/>
          </p:nvSpPr>
          <p:spPr>
            <a:xfrm>
              <a:off x="9117495" y="1537252"/>
              <a:ext cx="1948070" cy="861391"/>
            </a:xfrm>
            <a:prstGeom prst="cloudCallout">
              <a:avLst>
                <a:gd name="adj1" fmla="val -88391"/>
                <a:gd name="adj2" fmla="val 7186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Calibri" pitchFamily="34" charset="0"/>
                  <a:cs typeface="Calibri" pitchFamily="34" charset="0"/>
                </a:rPr>
                <a:t>Auxiliary Equation</a:t>
              </a:r>
              <a:endParaRPr lang="en-US" b="1" dirty="0"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4995354" y="2960894"/>
              <a:ext cx="6600297" cy="584585"/>
              <a:chOff x="1563755" y="3159677"/>
              <a:chExt cx="6600297" cy="58458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F97B347D-45AC-7C0F-4356-D048FFBC6350}"/>
                  </a:ext>
                </a:extLst>
              </p:cNvPr>
              <p:cNvSpPr txBox="1"/>
              <p:nvPr/>
            </p:nvSpPr>
            <p:spPr>
              <a:xfrm>
                <a:off x="1563755" y="3256756"/>
                <a:ext cx="3393272" cy="487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dirty="0" smtClean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Here</a:t>
                </a:r>
                <a:r>
                  <a:rPr lang="en-US" sz="2400" b="1" dirty="0" smtClean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smtClean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roots are </a:t>
                </a:r>
              </a:p>
            </p:txBody>
          </p:sp>
          <p:graphicFrame>
            <p:nvGraphicFramePr>
              <p:cNvPr id="15" name="Object 14"/>
              <p:cNvGraphicFramePr>
                <a:graphicFrameLocks noChangeAspect="1"/>
              </p:cNvGraphicFramePr>
              <p:nvPr/>
            </p:nvGraphicFramePr>
            <p:xfrm>
              <a:off x="4863549" y="3186940"/>
              <a:ext cx="1286174" cy="552694"/>
            </p:xfrm>
            <a:graphic>
              <a:graphicData uri="http://schemas.openxmlformats.org/presentationml/2006/ole">
                <p:oleObj spid="_x0000_s24584" name="Equation" r:id="rId8" imgW="406080" imgH="215640" progId="Equation.3">
                  <p:embed/>
                </p:oleObj>
              </a:graphicData>
            </a:graphic>
          </p:graphicFrame>
          <p:graphicFrame>
            <p:nvGraphicFramePr>
              <p:cNvPr id="16" name="Object 15"/>
              <p:cNvGraphicFramePr>
                <a:graphicFrameLocks noChangeAspect="1"/>
              </p:cNvGraphicFramePr>
              <p:nvPr/>
            </p:nvGraphicFramePr>
            <p:xfrm>
              <a:off x="6878591" y="3159677"/>
              <a:ext cx="1285461" cy="564184"/>
            </p:xfrm>
            <a:graphic>
              <a:graphicData uri="http://schemas.openxmlformats.org/presentationml/2006/ole">
                <p:oleObj spid="_x0000_s24585" name="Equation" r:id="rId9" imgW="507960" imgH="215640" progId="Equation.3">
                  <p:embed/>
                </p:oleObj>
              </a:graphicData>
            </a:graphic>
          </p:graphicFrame>
          <p:sp>
            <p:nvSpPr>
              <p:cNvPr id="18" name="TextBox 17"/>
              <p:cNvSpPr txBox="1"/>
              <p:nvPr/>
            </p:nvSpPr>
            <p:spPr>
              <a:xfrm>
                <a:off x="6261652" y="3213651"/>
                <a:ext cx="841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and</a:t>
                </a:r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1364973" y="4229260"/>
            <a:ext cx="6413846" cy="1138285"/>
            <a:chOff x="1842051" y="3738929"/>
            <a:chExt cx="6413846" cy="113828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1842051" y="3738929"/>
              <a:ext cx="4903305" cy="487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So Equation(2) we get</a:t>
              </a:r>
              <a:r>
                <a:rPr lang="en-US" sz="2200" b="1" i="1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endParaRPr lang="en-US" sz="22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3753747" y="4302539"/>
            <a:ext cx="4502150" cy="574675"/>
          </p:xfrm>
          <a:graphic>
            <a:graphicData uri="http://schemas.openxmlformats.org/presentationml/2006/ole">
              <p:oleObj spid="_x0000_s24587" name="Equation" r:id="rId10" imgW="1371600" imgH="215640" progId="Equation.3">
                <p:embed/>
              </p:oleObj>
            </a:graphicData>
          </a:graphic>
        </p:graphicFrame>
      </p:grpSp>
      <p:grpSp>
        <p:nvGrpSpPr>
          <p:cNvPr id="24" name="Group 23"/>
          <p:cNvGrpSpPr/>
          <p:nvPr/>
        </p:nvGrpSpPr>
        <p:grpSpPr>
          <a:xfrm>
            <a:off x="8389111" y="4638262"/>
            <a:ext cx="3418576" cy="1258956"/>
            <a:chOff x="7478024" y="4547313"/>
            <a:chExt cx="3378820" cy="130552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7606747" y="4547313"/>
              <a:ext cx="1272210" cy="487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Let,</a:t>
              </a:r>
              <a:r>
                <a:rPr lang="en-US" sz="2000" b="1" i="1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endParaRPr lang="en-US" sz="20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27" name="Object 26"/>
            <p:cNvGraphicFramePr>
              <a:graphicFrameLocks noChangeAspect="1"/>
            </p:cNvGraphicFramePr>
            <p:nvPr/>
          </p:nvGraphicFramePr>
          <p:xfrm>
            <a:off x="7478024" y="5234607"/>
            <a:ext cx="3378820" cy="618229"/>
          </p:xfrm>
          <a:graphic>
            <a:graphicData uri="http://schemas.openxmlformats.org/presentationml/2006/ole">
              <p:oleObj spid="_x0000_s24589" name="Equation" r:id="rId11" imgW="1193760" imgH="215640" progId="Equation.3">
                <p:embed/>
              </p:oleObj>
            </a:graphicData>
          </a:graphic>
        </p:graphicFrame>
      </p:grp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3395110" y="5552661"/>
          <a:ext cx="2926177" cy="583095"/>
        </p:xfrm>
        <a:graphic>
          <a:graphicData uri="http://schemas.openxmlformats.org/presentationml/2006/ole">
            <p:oleObj spid="_x0000_s24590" name="Equation" r:id="rId12" imgW="102852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2175221" y="405227"/>
          <a:ext cx="3706812" cy="6021387"/>
        </p:xfrm>
        <a:graphic>
          <a:graphicData uri="http://schemas.openxmlformats.org/presentationml/2006/ole">
            <p:oleObj spid="_x0000_s25602" name="Equation" r:id="rId3" imgW="1320480" imgH="2768400" progId="Equation.3">
              <p:embed/>
            </p:oleObj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671932" y="440015"/>
            <a:ext cx="1351858" cy="768350"/>
            <a:chOff x="6493567" y="280988"/>
            <a:chExt cx="1351858" cy="768350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6743700" y="280988"/>
            <a:ext cx="1101725" cy="768350"/>
          </p:xfrm>
          <a:graphic>
            <a:graphicData uri="http://schemas.openxmlformats.org/presentationml/2006/ole">
              <p:oleObj spid="_x0000_s25603" name="Equation" r:id="rId4" imgW="622080" imgH="431640" progId="Equation.3">
                <p:embed/>
              </p:oleObj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6493567" y="397565"/>
              <a:ext cx="2856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;</a:t>
              </a:r>
              <a:endParaRPr lang="en-US" sz="2800" b="1" dirty="0"/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8203095" y="2093844"/>
            <a:ext cx="2438400" cy="1020418"/>
          </a:xfrm>
          <a:prstGeom prst="wedgeRoundRectCallout">
            <a:avLst>
              <a:gd name="adj1" fmla="val -194650"/>
              <a:gd name="adj2" fmla="val -1310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Variables Separable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97B347D-45AC-7C0F-4356-D048FFBC6350}"/>
              </a:ext>
            </a:extLst>
          </p:cNvPr>
          <p:cNvSpPr txBox="1"/>
          <p:nvPr/>
        </p:nvSpPr>
        <p:spPr>
          <a:xfrm>
            <a:off x="5219409" y="6044812"/>
            <a:ext cx="4269149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effectLst/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r>
              <a:rPr lang="en-US" sz="2400" dirty="0" smtClean="0">
                <a:effectLst/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 k is constant</a:t>
            </a:r>
            <a:endParaRPr lang="en-US" sz="2400" b="1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60105" y="5963478"/>
            <a:ext cx="2027582" cy="689113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2148992" y="796994"/>
          <a:ext cx="4970462" cy="1601649"/>
        </p:xfrm>
        <a:graphic>
          <a:graphicData uri="http://schemas.openxmlformats.org/presentationml/2006/ole">
            <p:oleObj spid="_x0000_s26626" name="Equation" r:id="rId3" imgW="1562040" imgH="660240" progId="Equation.3">
              <p:embed/>
            </p:oleObj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596887" y="366252"/>
            <a:ext cx="3624469" cy="429220"/>
            <a:chOff x="1517374" y="366252"/>
            <a:chExt cx="3889514" cy="4292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1517374" y="366252"/>
              <a:ext cx="3889514" cy="429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Equation</a:t>
              </a:r>
              <a:r>
                <a:rPr lang="en-US" sz="2200" dirty="0" smtClean="0"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 (3) </a:t>
              </a:r>
              <a:r>
                <a:rPr lang="en-US" sz="22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becomes</a:t>
              </a:r>
              <a:r>
                <a:rPr lang="en-US" sz="2200" b="1" i="1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endParaRPr lang="en-US" sz="22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1613175" y="421930"/>
            <a:ext cx="334893" cy="304448"/>
          </p:xfrm>
          <a:graphic>
            <a:graphicData uri="http://schemas.openxmlformats.org/presentationml/2006/ole">
              <p:oleObj spid="_x0000_s26627" name="Equation" r:id="rId4" imgW="139680" imgH="126720" progId="Equation.3">
                <p:embed/>
              </p:oleObj>
            </a:graphicData>
          </a:graphic>
        </p:graphicFrame>
      </p:grp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085541" y="2457660"/>
          <a:ext cx="1665287" cy="457200"/>
        </p:xfrm>
        <a:graphic>
          <a:graphicData uri="http://schemas.openxmlformats.org/presentationml/2006/ole">
            <p:oleObj spid="_x0000_s26628" name="Equation" r:id="rId5" imgW="711000" imgH="215640" progId="Equation.3">
              <p:embed/>
            </p:oleObj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7845289" y="1552713"/>
            <a:ext cx="1404522" cy="768350"/>
            <a:chOff x="7858541" y="1778000"/>
            <a:chExt cx="1404522" cy="768350"/>
          </a:xfrm>
        </p:grpSpPr>
        <p:graphicFrame>
          <p:nvGraphicFramePr>
            <p:cNvPr id="26629" name="Object 5"/>
            <p:cNvGraphicFramePr>
              <a:graphicFrameLocks noChangeAspect="1"/>
            </p:cNvGraphicFramePr>
            <p:nvPr/>
          </p:nvGraphicFramePr>
          <p:xfrm>
            <a:off x="8161338" y="1778000"/>
            <a:ext cx="1101725" cy="768350"/>
          </p:xfrm>
          <a:graphic>
            <a:graphicData uri="http://schemas.openxmlformats.org/presentationml/2006/ole">
              <p:oleObj spid="_x0000_s26629" name="Equation" r:id="rId6" imgW="622080" imgH="431640" progId="Equation.3">
                <p:embed/>
              </p:oleObj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7858541" y="1868557"/>
              <a:ext cx="2856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;</a:t>
              </a:r>
              <a:endParaRPr lang="en-US" sz="28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97B347D-45AC-7C0F-4356-D048FFBC6350}"/>
              </a:ext>
            </a:extLst>
          </p:cNvPr>
          <p:cNvSpPr txBox="1"/>
          <p:nvPr/>
        </p:nvSpPr>
        <p:spPr>
          <a:xfrm>
            <a:off x="1603513" y="2506479"/>
            <a:ext cx="7460973" cy="45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 smtClean="0">
                <a:latin typeface="Bookman Old Style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equation is a linear differential equation</a:t>
            </a:r>
            <a:r>
              <a:rPr lang="en-US" sz="2200" dirty="0" smtClean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, here </a:t>
            </a:r>
            <a:endParaRPr lang="en-US" sz="2200" b="1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001079" y="3082787"/>
            <a:ext cx="7112898" cy="825598"/>
            <a:chOff x="1577009" y="3202057"/>
            <a:chExt cx="7112898" cy="825598"/>
          </a:xfrm>
        </p:grpSpPr>
        <p:grpSp>
          <p:nvGrpSpPr>
            <p:cNvPr id="11" name="Group 10"/>
            <p:cNvGrpSpPr/>
            <p:nvPr/>
          </p:nvGrpSpPr>
          <p:grpSpPr>
            <a:xfrm>
              <a:off x="1577009" y="3540149"/>
              <a:ext cx="3366052" cy="487506"/>
              <a:chOff x="1517374" y="366252"/>
              <a:chExt cx="3612200" cy="48750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F97B347D-45AC-7C0F-4356-D048FFBC6350}"/>
                  </a:ext>
                </a:extLst>
              </p:cNvPr>
              <p:cNvSpPr txBox="1"/>
              <p:nvPr/>
            </p:nvSpPr>
            <p:spPr>
              <a:xfrm>
                <a:off x="1517374" y="366252"/>
                <a:ext cx="3612200" cy="487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200" dirty="0" smtClean="0"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Integrating factor </a:t>
                </a:r>
                <a:r>
                  <a:rPr lang="en-US" sz="2400" b="1" dirty="0" smtClean="0"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2200" b="1" i="1" dirty="0" smtClean="0">
                    <a:latin typeface="Georgia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US" sz="2200" b="1" i="1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13" name="Object 12"/>
              <p:cNvGraphicFramePr>
                <a:graphicFrameLocks noChangeAspect="1"/>
              </p:cNvGraphicFramePr>
              <p:nvPr/>
            </p:nvGraphicFramePr>
            <p:xfrm>
              <a:off x="1598954" y="408677"/>
              <a:ext cx="446962" cy="406329"/>
            </p:xfrm>
            <a:graphic>
              <a:graphicData uri="http://schemas.openxmlformats.org/presentationml/2006/ole">
                <p:oleObj spid="_x0000_s26630" name="Equation" r:id="rId7" imgW="139680" imgH="126720" progId="Equation.3">
                  <p:embed/>
                </p:oleObj>
              </a:graphicData>
            </a:graphic>
          </p:graphicFrame>
        </p:grpSp>
        <p:graphicFrame>
          <p:nvGraphicFramePr>
            <p:cNvPr id="14" name="Object 13"/>
            <p:cNvGraphicFramePr>
              <a:graphicFrameLocks noChangeAspect="1"/>
            </p:cNvGraphicFramePr>
            <p:nvPr/>
          </p:nvGraphicFramePr>
          <p:xfrm>
            <a:off x="4733857" y="3202057"/>
            <a:ext cx="3956050" cy="793750"/>
          </p:xfrm>
          <a:graphic>
            <a:graphicData uri="http://schemas.openxmlformats.org/presentationml/2006/ole">
              <p:oleObj spid="_x0000_s26631" name="Equation" r:id="rId8" imgW="1422360" imgH="266400" progId="Equation.3">
                <p:embed/>
              </p:oleObj>
            </a:graphicData>
          </a:graphic>
        </p:graphicFrame>
      </p:grpSp>
      <p:grpSp>
        <p:nvGrpSpPr>
          <p:cNvPr id="16" name="Group 15"/>
          <p:cNvGrpSpPr/>
          <p:nvPr/>
        </p:nvGrpSpPr>
        <p:grpSpPr>
          <a:xfrm>
            <a:off x="2431773" y="4196132"/>
            <a:ext cx="7282069" cy="2436581"/>
            <a:chOff x="1742661" y="419262"/>
            <a:chExt cx="7282069" cy="243658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F97B347D-45AC-7C0F-4356-D048FFBC6350}"/>
                </a:ext>
              </a:extLst>
            </p:cNvPr>
            <p:cNvSpPr txBox="1"/>
            <p:nvPr/>
          </p:nvSpPr>
          <p:spPr>
            <a:xfrm>
              <a:off x="1742661" y="419262"/>
              <a:ext cx="7282069" cy="454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indent="-28575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Multiplying equation </a:t>
              </a:r>
              <a:r>
                <a:rPr lang="en-US" sz="2200" dirty="0" smtClean="0"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(4)</a:t>
              </a:r>
              <a:r>
                <a:rPr lang="en-US" sz="2200" dirty="0" smtClean="0">
                  <a:latin typeface="Georgia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 with the integrating factor,</a:t>
              </a:r>
              <a:endParaRPr lang="en-US" sz="22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2712001" y="847655"/>
            <a:ext cx="4748974" cy="2008188"/>
          </p:xfrm>
          <a:graphic>
            <a:graphicData uri="http://schemas.openxmlformats.org/presentationml/2006/ole">
              <p:oleObj spid="_x0000_s26632" name="Equation" r:id="rId9" imgW="1917360" imgH="81252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97B347D-45AC-7C0F-4356-D048FFBC6350}"/>
              </a:ext>
            </a:extLst>
          </p:cNvPr>
          <p:cNvSpPr txBox="1"/>
          <p:nvPr/>
        </p:nvSpPr>
        <p:spPr>
          <a:xfrm>
            <a:off x="1736034" y="293366"/>
            <a:ext cx="4717774" cy="45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Integrating with respect to </a:t>
            </a:r>
            <a:r>
              <a:rPr lang="en-US" sz="2200" b="1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x,</a:t>
            </a:r>
            <a:endParaRPr lang="en-US" sz="2200" b="1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885950" y="727075"/>
          <a:ext cx="5457825" cy="2095500"/>
        </p:xfrm>
        <a:graphic>
          <a:graphicData uri="http://schemas.openxmlformats.org/presentationml/2006/ole">
            <p:oleObj spid="_x0000_s27652" name="Equation" r:id="rId3" imgW="2057400" imgH="838080" progId="Equation.3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8543511" y="1397898"/>
          <a:ext cx="114300" cy="215900"/>
        </p:xfrm>
        <a:graphic>
          <a:graphicData uri="http://schemas.openxmlformats.org/presentationml/2006/ole">
            <p:oleObj spid="_x0000_s27654" name="Equation" r:id="rId4" imgW="114120" imgH="215640" progId="Equation.3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740727" y="2840244"/>
          <a:ext cx="6555134" cy="1837773"/>
        </p:xfrm>
        <a:graphic>
          <a:graphicData uri="http://schemas.openxmlformats.org/presentationml/2006/ole">
            <p:oleObj spid="_x0000_s27656" name="Equation" r:id="rId5" imgW="1968480" imgH="736560" progId="Equation.3">
              <p:embed/>
            </p:oleObj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1900100" y="4798390"/>
          <a:ext cx="5111750" cy="754063"/>
        </p:xfrm>
        <a:graphic>
          <a:graphicData uri="http://schemas.openxmlformats.org/presentationml/2006/ole">
            <p:oleObj spid="_x0000_s27657" name="Equation" r:id="rId6" imgW="1282680" imgH="228600" progId="Equation.3">
              <p:embed/>
            </p:oleObj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8892210" y="1046922"/>
            <a:ext cx="3061251" cy="2729947"/>
            <a:chOff x="8772940" y="2067340"/>
            <a:chExt cx="3061251" cy="2729947"/>
          </a:xfrm>
        </p:grpSpPr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8878958" y="2279374"/>
              <a:ext cx="2782956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As m</a:t>
              </a:r>
              <a:r>
                <a:rPr kumimoji="0" lang="en-US" sz="1800" b="0" i="0" u="none" strike="noStrike" cap="none" normalizeH="0" baseline="-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1 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and m</a:t>
              </a:r>
              <a:r>
                <a:rPr kumimoji="0" lang="en-US" sz="1800" b="0" i="0" u="none" strike="noStrike" cap="none" normalizeH="0" baseline="-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2 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are distinct and real roots, so (m</a:t>
              </a:r>
              <a:r>
                <a:rPr kumimoji="0" lang="en-US" sz="1800" b="0" i="0" u="none" strike="noStrike" cap="none" normalizeH="0" baseline="-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1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-m</a:t>
              </a:r>
              <a:r>
                <a:rPr kumimoji="0" lang="en-US" sz="1800" b="0" i="0" u="none" strike="noStrike" cap="none" normalizeH="0" baseline="-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2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Georgia" pitchFamily="18" charset="0"/>
                  <a:ea typeface="Calibri" pitchFamily="34" charset="0"/>
                  <a:cs typeface="Vrinda" pitchFamily="34" charset="0"/>
                </a:rPr>
                <a:t>) is also real and a constant. So, let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9759673" y="3476556"/>
            <a:ext cx="1928744" cy="1029183"/>
          </p:xfrm>
          <a:graphic>
            <a:graphicData uri="http://schemas.openxmlformats.org/presentationml/2006/ole">
              <p:oleObj spid="_x0000_s27655" name="Equation" r:id="rId7" imgW="888840" imgH="431640" progId="Equation.3">
                <p:embed/>
              </p:oleObj>
            </a:graphicData>
          </a:graphic>
        </p:graphicFrame>
        <p:sp>
          <p:nvSpPr>
            <p:cNvPr id="14" name="Left Bracket 13"/>
            <p:cNvSpPr/>
            <p:nvPr/>
          </p:nvSpPr>
          <p:spPr>
            <a:xfrm>
              <a:off x="8772940" y="2067340"/>
              <a:ext cx="410818" cy="2716696"/>
            </a:xfrm>
            <a:prstGeom prst="leftBracket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Bracket 14"/>
            <p:cNvSpPr/>
            <p:nvPr/>
          </p:nvSpPr>
          <p:spPr>
            <a:xfrm>
              <a:off x="11436626" y="2093843"/>
              <a:ext cx="397565" cy="2703444"/>
            </a:xfrm>
            <a:prstGeom prst="rightBracket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209183" y="4863549"/>
            <a:ext cx="4227443" cy="530086"/>
            <a:chOff x="6891130" y="4227445"/>
            <a:chExt cx="4232249" cy="514673"/>
          </a:xfrm>
        </p:grpSpPr>
        <p:sp>
          <p:nvSpPr>
            <p:cNvPr id="17" name="TextBox 16"/>
            <p:cNvSpPr txBox="1"/>
            <p:nvPr/>
          </p:nvSpPr>
          <p:spPr>
            <a:xfrm>
              <a:off x="6891130" y="4280453"/>
              <a:ext cx="4232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Arial" pitchFamily="34" charset="0"/>
                  <a:cs typeface="Arial" pitchFamily="34" charset="0"/>
                </a:rPr>
                <a:t>; </a:t>
              </a:r>
              <a:r>
                <a:rPr lang="en-US" sz="2400" dirty="0" smtClean="0">
                  <a:latin typeface="Arial" pitchFamily="34" charset="0"/>
                  <a:cs typeface="Arial" pitchFamily="34" charset="0"/>
                </a:rPr>
                <a:t>Where            are constants.</a:t>
              </a:r>
              <a:endParaRPr lang="en-US" sz="2400" dirty="0"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18" name="Object 17"/>
            <p:cNvGraphicFramePr>
              <a:graphicFrameLocks noChangeAspect="1"/>
            </p:cNvGraphicFramePr>
            <p:nvPr/>
          </p:nvGraphicFramePr>
          <p:xfrm>
            <a:off x="8085759" y="4227445"/>
            <a:ext cx="859458" cy="500615"/>
          </p:xfrm>
          <a:graphic>
            <a:graphicData uri="http://schemas.openxmlformats.org/presentationml/2006/ole">
              <p:oleObj spid="_x0000_s27658" name="Equation" r:id="rId8" imgW="393480" imgH="21564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the-en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05973" y="4701512"/>
            <a:ext cx="983669" cy="983669"/>
          </a:xfrm>
          <a:prstGeom prst="rect">
            <a:avLst/>
          </a:prstGeom>
        </p:spPr>
      </p:pic>
      <p:pic>
        <p:nvPicPr>
          <p:cNvPr id="17" name="Picture 16" descr="signboar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316818" y="5393634"/>
            <a:ext cx="1464365" cy="14643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97B347D-45AC-7C0F-4356-D048FFBC6350}"/>
              </a:ext>
            </a:extLst>
          </p:cNvPr>
          <p:cNvSpPr txBox="1"/>
          <p:nvPr/>
        </p:nvSpPr>
        <p:spPr>
          <a:xfrm>
            <a:off x="1457740" y="897869"/>
            <a:ext cx="10197547" cy="81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Therefore,  we can say  for any 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Higher order Homogeneous Linear Differential equation</a:t>
            </a:r>
            <a:r>
              <a:rPr lang="en-US" sz="2000" dirty="0" smtClean="0">
                <a:latin typeface="Bookman Old Style" panose="02050604050505020204" pitchFamily="18" charset="0"/>
              </a:rPr>
              <a:t> with constant coefficients the solution will be </a:t>
            </a:r>
            <a:r>
              <a:rPr lang="en-US" sz="24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000" b="1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1725335" y="1976024"/>
          <a:ext cx="9592021" cy="965958"/>
        </p:xfrm>
        <a:graphic>
          <a:graphicData uri="http://schemas.openxmlformats.org/presentationml/2006/ole">
            <p:oleObj spid="_x0000_s22536" name="Equation" r:id="rId5" imgW="2730240" imgH="241200" progId="Equation.3">
              <p:embed/>
            </p:oleObj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97B347D-45AC-7C0F-4356-D048FFBC6350}"/>
              </a:ext>
            </a:extLst>
          </p:cNvPr>
          <p:cNvSpPr txBox="1"/>
          <p:nvPr/>
        </p:nvSpPr>
        <p:spPr>
          <a:xfrm>
            <a:off x="5214729" y="3109453"/>
            <a:ext cx="6804992" cy="429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r>
              <a:rPr lang="en-US" sz="2200" dirty="0" smtClean="0">
                <a:latin typeface="Georgia" pitchFamily="18" charset="0"/>
                <a:ea typeface="Calibri" panose="020F0502020204030204" pitchFamily="34" charset="0"/>
                <a:cs typeface="Arial" panose="020B0604020202020204" pitchFamily="34" charset="0"/>
              </a:rPr>
              <a:t>where n is the order of the differential equation</a:t>
            </a:r>
            <a:endParaRPr lang="en-US" sz="2200" b="1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D22E8955F3046A8DAD124A6A64092" ma:contentTypeVersion="7" ma:contentTypeDescription="Create a new document." ma:contentTypeScope="" ma:versionID="f735b8390382b4420dbb996c53b718b6">
  <xsd:schema xmlns:xsd="http://www.w3.org/2001/XMLSchema" xmlns:xs="http://www.w3.org/2001/XMLSchema" xmlns:p="http://schemas.microsoft.com/office/2006/metadata/properties" xmlns:ns3="ccd56b7f-8d71-4204-814c-82561a7be971" xmlns:ns4="9e4dbf77-d37e-4e22-a459-99277fa113bb" targetNamespace="http://schemas.microsoft.com/office/2006/metadata/properties" ma:root="true" ma:fieldsID="ba5e3b18d2341fa7727b2abb7de1a61f" ns3:_="" ns4:_="">
    <xsd:import namespace="ccd56b7f-8d71-4204-814c-82561a7be971"/>
    <xsd:import namespace="9e4dbf77-d37e-4e22-a459-99277fa113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d56b7f-8d71-4204-814c-82561a7be9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4dbf77-d37e-4e22-a459-99277fa113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EA9BF9-4288-4C59-AE1D-A1E1F9C614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d56b7f-8d71-4204-814c-82561a7be971"/>
    <ds:schemaRef ds:uri="9e4dbf77-d37e-4e22-a459-99277fa113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3E8D4D-E134-471A-87DA-CDEA99061501}">
  <ds:schemaRefs>
    <ds:schemaRef ds:uri="http://purl.org/dc/elements/1.1/"/>
    <ds:schemaRef ds:uri="http://schemas.microsoft.com/office/infopath/2007/PartnerControls"/>
    <ds:schemaRef ds:uri="9e4dbf77-d37e-4e22-a459-99277fa113bb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ccd56b7f-8d71-4204-814c-82561a7be971"/>
  </ds:schemaRefs>
</ds:datastoreItem>
</file>

<file path=customXml/itemProps3.xml><?xml version="1.0" encoding="utf-8"?>
<ds:datastoreItem xmlns:ds="http://schemas.openxmlformats.org/officeDocument/2006/customXml" ds:itemID="{E019AED4-992A-412D-BFD8-8B6E2F2355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587</TotalTime>
  <Words>260</Words>
  <Application>Microsoft Office PowerPoint</Application>
  <PresentationFormat>Custom</PresentationFormat>
  <Paragraphs>37</Paragraphs>
  <Slides>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Wisp</vt:lpstr>
      <vt:lpstr>Equation</vt:lpstr>
      <vt:lpstr>Solution Method  of  Higher Order Homogeneous Linear Differential Equation  with  Constant Coefficients  when  roots are not equal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Method  of  Higher Order Homogeneous Linear Differential Equation  with  Constant Coefficients  when  roots are not equal</dc:title>
  <dc:creator>Icslab5 License3</dc:creator>
  <cp:lastModifiedBy>beautifulbd21@outlook.com</cp:lastModifiedBy>
  <cp:revision>65</cp:revision>
  <dcterms:created xsi:type="dcterms:W3CDTF">2022-08-14T05:45:58Z</dcterms:created>
  <dcterms:modified xsi:type="dcterms:W3CDTF">2022-09-06T02:02:43Z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0x010100EF5D22E8955F3046A8DAD124A6A64092</vt:lpwstr>
  </property>
</Properties>
</file>